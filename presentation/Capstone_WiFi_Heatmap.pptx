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554480"/>
            <a:ext cx="5852160" cy="585216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38BDF8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-822960"/>
            <a:ext cx="4389120" cy="438912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1C7293">
                <a:alpha val="3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-91440"/>
            <a:ext cx="2926080" cy="292608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38BDF8">
                <a:alpha val="29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548640"/>
            <a:ext cx="1645920" cy="164592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1C7293">
                <a:alpha val="21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05288" y="1252728"/>
            <a:ext cx="237744" cy="237744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41732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2273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17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CAPSTONE DESIGN · WEEKLY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0574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Heatmap Simulator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749808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구현 이야기 — 전파 시뮬레이션(FDTD)과 공유기 자리 추천(DPM+FDTD)을 어떻게 만들었나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36118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FC3D4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호수에 돌을 던지면 물결이 퍼지듯, 컴퓨터 안에서 전파를 한 칸씩 실제로 퍼뜨려 계산하고 — 그 결과로 최적의 공유기 위치를 자동으로 찾습니다.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5074920"/>
            <a:ext cx="6035040" cy="0"/>
          </a:xfrm>
          <a:prstGeom prst="line">
            <a:avLst/>
          </a:prstGeom>
          <a:noFill/>
          <a:ln w="12700">
            <a:solidFill>
              <a:srgbClr val="1C7293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[ 팀명 ]</a:t>
            </a:r>
            <a:pPr algn="l" indent="0" marL="0">
              <a:buNone/>
            </a:pPr>
            <a:r>
              <a:rPr lang="en-US" sz="13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   ·   [ 발표자 ]   ·   [ N주차 ]   ·   [ 과목명 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한눈에 보기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이 프로그램은 이렇게 동작합니다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도면을 올리면 → 와이파이 쓸 공간을 고르고 → 공유기 자리를 자동 추천 → 전파 지도(히트맵)로 확인. 그 안에서 두 계산 엔진이 협력합니다.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50545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11680"/>
            <a:ext cx="82296" cy="18288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26771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89888" y="2286000"/>
            <a:ext cx="1545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공간 그리기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288036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도면 업로드 → 실제 크기 맞추기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→ 벽 그리기 → 쓸 공간 선택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99816" y="2926080"/>
            <a:ext cx="246888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392424" y="2011680"/>
            <a:ext cx="250545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92424" y="2011680"/>
            <a:ext cx="82296" cy="182880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15" name="Shape 13"/>
          <p:cNvSpPr/>
          <p:nvPr/>
        </p:nvSpPr>
        <p:spPr>
          <a:xfrm>
            <a:off x="3648456" y="2267712"/>
            <a:ext cx="457200" cy="457200"/>
          </a:xfrm>
          <a:prstGeom prst="ellipse">
            <a:avLst/>
          </a:prstGeom>
          <a:solidFill>
            <a:srgbClr val="F4B23E"/>
          </a:solidFill>
          <a:ln/>
        </p:spPr>
      </p:sp>
      <p:sp>
        <p:nvSpPr>
          <p:cNvPr id="16" name="Text 14"/>
          <p:cNvSpPr/>
          <p:nvPr/>
        </p:nvSpPr>
        <p:spPr>
          <a:xfrm>
            <a:off x="3648456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233672" y="2286000"/>
            <a:ext cx="1545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빠른 추정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66744" y="288036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후보 위치들을 빠른 모델(DPM)로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채점 — 최소 공유기로 최대 커버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0" y="2926080"/>
            <a:ext cx="246888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236208" y="2011680"/>
            <a:ext cx="250545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36208" y="2011680"/>
            <a:ext cx="82296" cy="182880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22" name="Shape 20"/>
          <p:cNvSpPr/>
          <p:nvPr/>
        </p:nvSpPr>
        <p:spPr>
          <a:xfrm>
            <a:off x="6492240" y="2267712"/>
            <a:ext cx="457200" cy="457200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077456" y="2286000"/>
            <a:ext cx="1545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정밀 검증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10528" y="288036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추천 자리를 전파 시뮬(FDTD)로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실제 검증 — 부족하면 옮겨 재검증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787384" y="2926080"/>
            <a:ext cx="246888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079992" y="2011680"/>
            <a:ext cx="250545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079992" y="2011680"/>
            <a:ext cx="82296" cy="182880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29" name="Shape 27"/>
          <p:cNvSpPr/>
          <p:nvPr/>
        </p:nvSpPr>
        <p:spPr>
          <a:xfrm>
            <a:off x="9336024" y="2267712"/>
            <a:ext cx="457200" cy="457200"/>
          </a:xfrm>
          <a:prstGeom prst="ellipse">
            <a:avLst/>
          </a:prstGeom>
          <a:solidFill>
            <a:srgbClr val="3FA86A"/>
          </a:solidFill>
          <a:ln/>
        </p:spPr>
      </p:sp>
      <p:sp>
        <p:nvSpPr>
          <p:cNvPr id="30" name="Text 28"/>
          <p:cNvSpPr/>
          <p:nvPr/>
        </p:nvSpPr>
        <p:spPr>
          <a:xfrm>
            <a:off x="9336024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4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921240" y="2286000"/>
            <a:ext cx="1545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결과 확인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54312" y="288036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전파 지도 자동 생성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고른 공간 기준 품질 측정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4160520"/>
            <a:ext cx="54864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48640" y="4160520"/>
            <a:ext cx="82296" cy="187452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35" name="Text 33"/>
          <p:cNvSpPr/>
          <p:nvPr/>
        </p:nvSpPr>
        <p:spPr>
          <a:xfrm>
            <a:off x="77724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 — 빠른 추정 엔진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77240" y="475488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전파가 ‘가장 잘 통하는 길’만 빠르게 계산. 1초에 수많은 후보를 평가해 좋은 자리를 추려냄. (지배경로 모델, Dominant Path Model)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153912" y="4160520"/>
            <a:ext cx="54864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153912" y="4160520"/>
            <a:ext cx="82296" cy="187452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39" name="Text 37"/>
          <p:cNvSpPr/>
          <p:nvPr/>
        </p:nvSpPr>
        <p:spPr>
          <a:xfrm>
            <a:off x="6382512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 — 정밀 검증 엔진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382512" y="475488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전파를 물결처럼 실제로 퍼뜨려 계산. 느리지만 정확 — 추려진 자리가 진짜 맞는지 최종 확인. (전자기파 수치 시뮬레이션)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1 · FDTD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FDTD, 쉽게 말하면 — 물결을 한 칸씩 퍼뜨리기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85216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82296" cy="4526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98448" y="17922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공간을 바둑판처럼 나눈다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298448" y="21762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방을 아주 작은 사각형 칸으로 분할 (격자, grid)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777240" y="2852928"/>
            <a:ext cx="402336" cy="402336"/>
          </a:xfrm>
          <a:prstGeom prst="ellipse">
            <a:avLst/>
          </a:prstGeom>
          <a:solidFill>
            <a:srgbClr val="14A0B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98448" y="28163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각 칸에 전파 세기를 저장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298448" y="32004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칸마다 전기장·자기장 값을 기록</a:t>
            </a:r>
            <a:endParaRPr lang="en-US" sz="1180" dirty="0"/>
          </a:p>
        </p:txBody>
      </p:sp>
      <p:sp>
        <p:nvSpPr>
          <p:cNvPr id="15" name="Shape 13"/>
          <p:cNvSpPr/>
          <p:nvPr/>
        </p:nvSpPr>
        <p:spPr>
          <a:xfrm>
            <a:off x="777240" y="3877056"/>
            <a:ext cx="402336" cy="402336"/>
          </a:xfrm>
          <a:prstGeom prst="ellipse">
            <a:avLst/>
          </a:prstGeom>
          <a:solidFill>
            <a:srgbClr val="F4B23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98448" y="3840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옆 칸으로 조금씩 전달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298448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아주 짧은 시간마다 이웃 칸으로 값을 넘기며 갱신 (시간 전진)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777240" y="4901184"/>
            <a:ext cx="402336" cy="402336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901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98448" y="48646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수천 번 반복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298448" y="524865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물결이 퍼지듯 전파가 방 전체로 번지는 모습이 재현됨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>
            <a:off x="6519672" y="1554480"/>
            <a:ext cx="512064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19672" y="1554480"/>
            <a:ext cx="82296" cy="452628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호수에 돌을 던진 것처럼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903720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87768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71816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55864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39912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23960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08008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92056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976104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60152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744200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128248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03720" y="2331720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03720" y="2715768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3720" y="3099816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03720" y="3483864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03720" y="3867912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03720" y="4251960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03720" y="4636008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03720" y="5020056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03720" y="5404104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830568" y="2450592"/>
            <a:ext cx="2834640" cy="2834640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14A0B0">
                <a:alpha val="7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96328" y="2816352"/>
            <a:ext cx="2103120" cy="2103120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1C7293">
                <a:alpha val="63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34656" y="3154680"/>
            <a:ext cx="1426464" cy="1426464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14A0B0">
                <a:alpha val="51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836408" y="3456432"/>
            <a:ext cx="822960" cy="822960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1C7293">
                <a:alpha val="39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47304" y="3767328"/>
            <a:ext cx="201168" cy="201168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52" name="Shape 50"/>
          <p:cNvSpPr/>
          <p:nvPr/>
        </p:nvSpPr>
        <p:spPr>
          <a:xfrm>
            <a:off x="8247888" y="3867912"/>
            <a:ext cx="384048" cy="0"/>
          </a:xfrm>
          <a:prstGeom prst="line">
            <a:avLst/>
          </a:prstGeom>
          <a:noFill/>
          <a:ln w="20320">
            <a:solidFill>
              <a:srgbClr val="F2792B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8247888" y="3867912"/>
            <a:ext cx="-384048" cy="0"/>
          </a:xfrm>
          <a:prstGeom prst="line">
            <a:avLst/>
          </a:prstGeom>
          <a:noFill/>
          <a:ln w="20320">
            <a:solidFill>
              <a:srgbClr val="F2792B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8247888" y="3867912"/>
            <a:ext cx="0" cy="384048"/>
          </a:xfrm>
          <a:prstGeom prst="line">
            <a:avLst/>
          </a:prstGeom>
          <a:noFill/>
          <a:ln w="20320">
            <a:solidFill>
              <a:srgbClr val="F2792B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8247888" y="3867912"/>
            <a:ext cx="0" cy="-384048"/>
          </a:xfrm>
          <a:prstGeom prst="line">
            <a:avLst/>
          </a:prstGeom>
          <a:noFill/>
          <a:ln w="20320">
            <a:solidFill>
              <a:srgbClr val="F2792B"/>
            </a:solidFill>
            <a:prstDash val="solid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6748272" y="5532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한 칸의 값이 매 순간 이웃 칸으로 전달 → 잔물결처럼 전파가 번져 나감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1 · FDTD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제대로 굴러가게 한 3가지 + 벽을 숫자로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93592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82296" cy="3063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90195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1901952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톱니바퀴처럼 엇갈린 배치</a:t>
            </a:r>
            <a:pPr indent="0" marL="0">
              <a:buNone/>
            </a:pPr>
            <a:r>
              <a:rPr lang="en-US" sz="11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  (Yee 격자)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30449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전기장과 자기장을 같은 칸이 아니라 반 칸씩 어긋나게 둡니다. 톱니바퀴 맞물리듯 — 계산이 안정적이고 정확해집니다.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645920"/>
            <a:ext cx="3593592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97680" y="1645920"/>
            <a:ext cx="82296" cy="306324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3712" y="1901952"/>
            <a:ext cx="384048" cy="384048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1901952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안전한 시간 간격</a:t>
            </a:r>
            <a:pPr indent="0" marL="0">
              <a:buNone/>
            </a:pPr>
            <a:r>
              <a:rPr lang="en-US" sz="11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  (CFL 조건)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0" y="2514600"/>
            <a:ext cx="30449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한 스텝의 시간이 너무 길면 물결이 칸을 건너뛰어 계산이 폭주(발산)합니다. 그래서 한계의 0.90배로만 전진합니다.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3977640"/>
            <a:ext cx="3044952" cy="502920"/>
          </a:xfrm>
          <a:prstGeom prst="rect">
            <a:avLst/>
          </a:prstGeom>
          <a:solidFill>
            <a:srgbClr val="0E223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397764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Δt = 0.90 · Δx / (c·√2)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1645920"/>
            <a:ext cx="3593592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0" y="1645920"/>
            <a:ext cx="82296" cy="306324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21" name="Shape 19"/>
          <p:cNvSpPr/>
          <p:nvPr/>
        </p:nvSpPr>
        <p:spPr>
          <a:xfrm>
            <a:off x="8302752" y="1901952"/>
            <a:ext cx="384048" cy="384048"/>
          </a:xfrm>
          <a:prstGeom prst="ellipse">
            <a:avLst/>
          </a:prstGeom>
          <a:solidFill>
            <a:srgbClr val="3FA86A"/>
          </a:solidFill>
          <a:ln/>
        </p:spPr>
      </p:sp>
      <p:sp>
        <p:nvSpPr>
          <p:cNvPr id="22" name="Text 20"/>
          <p:cNvSpPr/>
          <p:nvPr/>
        </p:nvSpPr>
        <p:spPr>
          <a:xfrm>
            <a:off x="8302752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0" y="1901952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경계의 메아리 차단</a:t>
            </a:r>
            <a:pPr indent="0" marL="0">
              <a:buNone/>
            </a:pPr>
            <a:r>
              <a:rPr lang="en-US" sz="11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  (PML 흡수층)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21040" y="2514600"/>
            <a:ext cx="30449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방 끝에서 물결이 튕겨 되돌아오면 가짜 간섭이 생깁니다. 가장자리에 ‘흡수 스펀지’ 층을 둬 끝없는 공간처럼 만듭니다.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937760"/>
            <a:ext cx="110916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4937760"/>
            <a:ext cx="82296" cy="109728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074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벽을 숫자로 새긴다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3657600" y="50749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각 칸에 재질의 전기적 성질(유전율 εr, 전도율 σ)을 기록 → </a:t>
            </a:r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콘크리트·유리·석고보드가 전파를 서로 다르게 막고 통과시키도록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 자연히 반영됩니다.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1 · 실측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직접 돌려본 결과 — 그림자와 회절이 보인다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93776" y="1636776"/>
            <a:ext cx="6144768" cy="4590084"/>
          </a:xfrm>
          <a:prstGeom prst="rect">
            <a:avLst/>
          </a:prstGeom>
          <a:solidFill>
            <a:srgbClr val="0C1B2A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pic>
        <p:nvPicPr>
          <p:cNvPr id="6" name="Image 0" descr="fdtd_f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035040" cy="44803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24514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실제 검증 엔진(FdtdWaveSimulator) 실시간 파동 시각화 · 도식이 아닌 계산 결과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858000" y="1874520"/>
            <a:ext cx="182880" cy="182880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9" name="Text 6"/>
          <p:cNvSpPr/>
          <p:nvPr/>
        </p:nvSpPr>
        <p:spPr>
          <a:xfrm>
            <a:off x="7178040" y="1783080"/>
            <a:ext cx="4416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밝은 곳 = 강한 신호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178040" y="213055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공유기(소스)에서 가까울수록 전파가 강합니다.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858000" y="2788920"/>
            <a:ext cx="182880" cy="1828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9"/>
          <p:cNvSpPr/>
          <p:nvPr/>
        </p:nvSpPr>
        <p:spPr>
          <a:xfrm>
            <a:off x="7178040" y="2697480"/>
            <a:ext cx="4416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벽 뒤 어두운 ‘그림자’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178040" y="304495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콘크리트 벽이 전파를 막아 뒤쪽이 약해집니다.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0" y="3703320"/>
            <a:ext cx="182880" cy="182880"/>
          </a:xfrm>
          <a:prstGeom prst="ellipse">
            <a:avLst/>
          </a:prstGeom>
          <a:solidFill>
            <a:srgbClr val="3FA86A"/>
          </a:solidFill>
          <a:ln/>
        </p:spPr>
      </p:sp>
      <p:sp>
        <p:nvSpPr>
          <p:cNvPr id="15" name="Text 12"/>
          <p:cNvSpPr/>
          <p:nvPr/>
        </p:nvSpPr>
        <p:spPr>
          <a:xfrm>
            <a:off x="7178040" y="3611880"/>
            <a:ext cx="4416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문틈으로 돌아 들어감 (회절)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178040" y="395935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벽이 끊긴 틈으로 전파가 휘어 들어갑니다.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0" y="4617720"/>
            <a:ext cx="182880" cy="182880"/>
          </a:xfrm>
          <a:prstGeom prst="ellipse">
            <a:avLst/>
          </a:prstGeom>
          <a:solidFill>
            <a:srgbClr val="F4B23E"/>
          </a:solidFill>
          <a:ln/>
        </p:spPr>
      </p:sp>
      <p:sp>
        <p:nvSpPr>
          <p:cNvPr id="18" name="Text 15"/>
          <p:cNvSpPr/>
          <p:nvPr/>
        </p:nvSpPr>
        <p:spPr>
          <a:xfrm>
            <a:off x="7178040" y="4526280"/>
            <a:ext cx="4416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칸막이 뒤 약해진 신호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178040" y="487375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석고보드는 약하게 막아 조금만 줄어듭니다.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858000" y="5532120"/>
            <a:ext cx="4782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→ 거리 공식으로 ‘추정’한 게 아니라 물결을 실제로 퍼뜨려 얻은 결과라, 그림자·회절이 저절로 나타납니다.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1 · 실측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성능 — 노트북에서 방 하나를 1~2초에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아래 수치는 추정이 아니라 검증 엔진(FdtdWaveSimulator)을 직접 돌려 측정한 값입니다 (2.4GHz, 8m×6m 방, 격자 한 칸 약 1.5cm, 멀티스레드 CPU 7스레드).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6791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11680"/>
            <a:ext cx="82296" cy="141732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12848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792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≈2.8초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95528" y="2907792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방 하나 정밀 시뮬 1회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46704" y="2011680"/>
            <a:ext cx="26791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46704" y="2011680"/>
            <a:ext cx="82296" cy="1417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2212848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232,171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593592" y="2907792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계산한 칸 수 (551×421)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44768" y="2011680"/>
            <a:ext cx="26791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44768" y="2011680"/>
            <a:ext cx="82296" cy="141732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16" name="Text 14"/>
          <p:cNvSpPr/>
          <p:nvPr/>
        </p:nvSpPr>
        <p:spPr>
          <a:xfrm>
            <a:off x="6373368" y="2212848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A86A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4,000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91656" y="2907792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시간 스텝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42832" y="2011680"/>
            <a:ext cx="26791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42832" y="2011680"/>
            <a:ext cx="82296" cy="1417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0" name="Text 18"/>
          <p:cNvSpPr/>
          <p:nvPr/>
        </p:nvSpPr>
        <p:spPr>
          <a:xfrm>
            <a:off x="9171432" y="2212848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≈3.3억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189720" y="2907792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초당 칸 갱신 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657600"/>
            <a:ext cx="82296" cy="23774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측정값 요약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297680"/>
          <a:ext cx="50292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83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항목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83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값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83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비고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83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격자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75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551×421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75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≈23만 칸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83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1회 검증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75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≈2.8초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75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4000스텝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777240" y="5577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주파수↑ → 파장↓ → 칸이 더 촘촘해야 함 → 계산량↑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153912" y="365760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153912" y="3657600"/>
            <a:ext cx="82296" cy="237744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그래서 설계가 중요하다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382512" y="429768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정밀하지만 1~2초가 드는 FDTD를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모든 후보 위치마다 돌리면 너무 느립니다.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 그래서 빠른 추정(DPM)으로 좋은 자리를 먼저 추리고, FDTD는 최종 검증에만 씁니다.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6382512" y="5577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792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→ 다음 파트: 두 엔진의 협업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2 · 자동 추천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공유기 자리 추천 — 전체 흐름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목표: 사용자가 고른 공간에서, 신호가 충분한 영역을 ‘가장 적은 공유기’로 최대한 덮는 자리 찾기. (목표 세기 −65dBm)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2103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57400"/>
            <a:ext cx="82296" cy="24231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1307592" y="2313432"/>
            <a:ext cx="585216" cy="5852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307592" y="23134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" y="301752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쓸 공간 고르기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" y="353872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벽으로 둘러싼 방을</a:t>
            </a:r>
            <a:endParaRPr lang="en-US" sz="10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클릭해 영역 지정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660904" y="2606040"/>
            <a:ext cx="146304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16352" y="2057400"/>
            <a:ext cx="2103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816352" y="2057400"/>
            <a:ext cx="82296" cy="2423160"/>
          </a:xfrm>
          <a:prstGeom prst="rect">
            <a:avLst/>
          </a:prstGeom>
          <a:solidFill>
            <a:srgbClr val="14A0B0"/>
          </a:solidFill>
          <a:ln/>
        </p:spPr>
      </p:sp>
      <p:sp>
        <p:nvSpPr>
          <p:cNvPr id="15" name="Shape 13"/>
          <p:cNvSpPr/>
          <p:nvPr/>
        </p:nvSpPr>
        <p:spPr>
          <a:xfrm>
            <a:off x="3575304" y="2313432"/>
            <a:ext cx="585216" cy="585216"/>
          </a:xfrm>
          <a:prstGeom prst="ellipse">
            <a:avLst/>
          </a:prstGeom>
          <a:solidFill>
            <a:srgbClr val="14A0B0"/>
          </a:solidFill>
          <a:ln/>
        </p:spPr>
      </p:sp>
      <p:sp>
        <p:nvSpPr>
          <p:cNvPr id="16" name="Text 14"/>
          <p:cNvSpPr/>
          <p:nvPr/>
        </p:nvSpPr>
        <p:spPr>
          <a:xfrm>
            <a:off x="3575304" y="23134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926080" y="301752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후보 자리 만들기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26080" y="353872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그 영역 안에만</a:t>
            </a:r>
            <a:endParaRPr lang="en-US" sz="10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후보·측정점 배치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928616" y="2606040"/>
            <a:ext cx="146304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84064" y="2057400"/>
            <a:ext cx="2103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84064" y="2057400"/>
            <a:ext cx="82296" cy="242316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843016" y="2313432"/>
            <a:ext cx="585216" cy="585216"/>
          </a:xfrm>
          <a:prstGeom prst="ellipse">
            <a:avLst/>
          </a:prstGeom>
          <a:solidFill>
            <a:srgbClr val="F4B23E"/>
          </a:solidFill>
          <a:ln/>
        </p:spPr>
      </p:sp>
      <p:sp>
        <p:nvSpPr>
          <p:cNvPr id="23" name="Text 21"/>
          <p:cNvSpPr/>
          <p:nvPr/>
        </p:nvSpPr>
        <p:spPr>
          <a:xfrm>
            <a:off x="5843016" y="23134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193792" y="301752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빠른 추정으로 선별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193792" y="353872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DPM으로 ‘새로 덮는</a:t>
            </a:r>
            <a:endParaRPr lang="en-US" sz="10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곳’이 가장 많은 자리 선택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7196328" y="2606040"/>
            <a:ext cx="146304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351776" y="2057400"/>
            <a:ext cx="2103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351776" y="2057400"/>
            <a:ext cx="82296" cy="242316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29" name="Shape 27"/>
          <p:cNvSpPr/>
          <p:nvPr/>
        </p:nvSpPr>
        <p:spPr>
          <a:xfrm>
            <a:off x="8110728" y="2313432"/>
            <a:ext cx="585216" cy="585216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30" name="Text 28"/>
          <p:cNvSpPr/>
          <p:nvPr/>
        </p:nvSpPr>
        <p:spPr>
          <a:xfrm>
            <a:off x="8110728" y="23134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4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7461504" y="301752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정밀 검증 + 보정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461504" y="353872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FDTD로 재확인,</a:t>
            </a:r>
            <a:endParaRPr lang="en-US" sz="10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부족하면 옮겨 재검증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9464040" y="2606040"/>
            <a:ext cx="146304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619488" y="2057400"/>
            <a:ext cx="2103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619488" y="2057400"/>
            <a:ext cx="82296" cy="242316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36" name="Shape 34"/>
          <p:cNvSpPr/>
          <p:nvPr/>
        </p:nvSpPr>
        <p:spPr>
          <a:xfrm>
            <a:off x="10378440" y="2313432"/>
            <a:ext cx="585216" cy="585216"/>
          </a:xfrm>
          <a:prstGeom prst="ellipse">
            <a:avLst/>
          </a:prstGeom>
          <a:solidFill>
            <a:srgbClr val="3FA86A"/>
          </a:solidFill>
          <a:ln/>
        </p:spPr>
      </p:sp>
      <p:sp>
        <p:nvSpPr>
          <p:cNvPr id="37" name="Text 35"/>
          <p:cNvSpPr/>
          <p:nvPr/>
        </p:nvSpPr>
        <p:spPr>
          <a:xfrm>
            <a:off x="10378440" y="23134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5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9729216" y="301752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적용 → 전파 지도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729216" y="353872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추천 자리에 공유기 놓고</a:t>
            </a:r>
            <a:endParaRPr lang="en-US" sz="10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히트맵 즉시 생성</a:t>
            </a:r>
            <a:endParaRPr lang="en-US" sz="1080" dirty="0"/>
          </a:p>
        </p:txBody>
      </p:sp>
      <p:sp>
        <p:nvSpPr>
          <p:cNvPr id="40" name="Shape 38"/>
          <p:cNvSpPr/>
          <p:nvPr/>
        </p:nvSpPr>
        <p:spPr>
          <a:xfrm>
            <a:off x="2103120" y="4892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FDE7D6"/>
          </a:solidFill>
          <a:ln/>
        </p:spPr>
      </p:sp>
      <p:sp>
        <p:nvSpPr>
          <p:cNvPr id="41" name="Text 39"/>
          <p:cNvSpPr/>
          <p:nvPr/>
        </p:nvSpPr>
        <p:spPr>
          <a:xfrm>
            <a:off x="2103120" y="4892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792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③ 빠른 추정 = DPM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6766560" y="4892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FBE0D2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0" y="4892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792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④ 정밀 검증 = FDTD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이 두 단계(③④)가 어떻게 맞물리는지가 핵심입니다 — 다음 두 장에서 설명합니다.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2 · 빠른 추정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 — ‘가장 잘 통하는 길’만 빠르게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00200"/>
            <a:ext cx="82296" cy="448056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왜 빠른 추정이 필요할까?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FDTD는 정확하지만 방 하나에 1~2초. 후보 자리가 수백 곳이면 다 돌리기엔 너무 오래 걸립니다.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063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DPM의 핵심 아이디어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35204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물이 벽을 못 뚫으면 문으로 돌아 흐르듯,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전파도 ‘가장 잘 통하는 길’을 따라간다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고 보고 — 그 한 경로의 손실만 빠르게 계산합니다. (지배경로 모델)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50292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B23E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→ 1초에 수많은 후보를 평가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 → 좋은 자리만 빠르게 추려냄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53912" y="160020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53912" y="1600200"/>
            <a:ext cx="82296" cy="4480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직선이 아니라 ‘돌아가는 길’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92240" y="2377440"/>
            <a:ext cx="4800600" cy="2743200"/>
          </a:xfrm>
          <a:prstGeom prst="rect">
            <a:avLst/>
          </a:prstGeom>
          <a:solidFill>
            <a:srgbClr val="EAF1F6"/>
          </a:solidFill>
          <a:ln w="12700">
            <a:solidFill>
              <a:srgbClr val="6B7C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0" y="2377440"/>
            <a:ext cx="118872" cy="1554480"/>
          </a:xfrm>
          <a:prstGeom prst="rect">
            <a:avLst/>
          </a:prstGeom>
          <a:solidFill>
            <a:srgbClr val="9AAEBD"/>
          </a:solidFill>
          <a:ln/>
        </p:spPr>
      </p:sp>
      <p:sp>
        <p:nvSpPr>
          <p:cNvPr id="17" name="Shape 15"/>
          <p:cNvSpPr/>
          <p:nvPr/>
        </p:nvSpPr>
        <p:spPr>
          <a:xfrm>
            <a:off x="7159752" y="4370832"/>
            <a:ext cx="219456" cy="219456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6085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792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공유기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332720" y="2926080"/>
            <a:ext cx="182880" cy="1828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9966960" y="26151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측정 지점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69480" y="4480560"/>
            <a:ext cx="1746504" cy="-411480"/>
          </a:xfrm>
          <a:prstGeom prst="line">
            <a:avLst/>
          </a:prstGeom>
          <a:noFill/>
          <a:ln w="31750">
            <a:solidFill>
              <a:srgbClr val="F4B23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15984" y="4069080"/>
            <a:ext cx="1408176" cy="-1051560"/>
          </a:xfrm>
          <a:prstGeom prst="line">
            <a:avLst/>
          </a:prstGeom>
          <a:noFill/>
          <a:ln w="31750">
            <a:solidFill>
              <a:srgbClr val="F4B23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69480" y="4480560"/>
            <a:ext cx="3154680" cy="-1463040"/>
          </a:xfrm>
          <a:prstGeom prst="line">
            <a:avLst/>
          </a:prstGeom>
          <a:noFill/>
          <a:ln w="12700">
            <a:solidFill>
              <a:srgbClr val="D9534F">
                <a:alpha val="75000"/>
              </a:srgbClr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492240" y="5230368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B23E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우세 경로(문으로 우회)   </a:t>
            </a:r>
            <a:pPr algn="ctr" indent="0" marL="0">
              <a:buNone/>
            </a:pPr>
            <a:r>
              <a:rPr lang="en-US" sz="1100" dirty="0">
                <a:solidFill>
                  <a:srgbClr val="D9534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┄ </a:t>
            </a:r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직선(벽에 막힘)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2 · 핵심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두 엔진의 협업 — 빠르게 찾고, 정밀하게 확인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초안은 빠르게(DPM), 최종 확인은 정밀하게(FDTD). 건축에서 스케치로 빠르게 잡고 구조해석으로 검증하는 것과 같습니다.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0749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11680"/>
            <a:ext cx="82296" cy="283464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19456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4B23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945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STEP A · 빠른 추정 (DPM)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2743200"/>
            <a:ext cx="4617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수백 개 후보 자리를 1초 안에 채점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‘새로 덮이는 측정점’이 가장 많은 자리를 하나씩 선택 (그리디)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여러 대를 놓을 땐 서로 너무 붙지 않게 분산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15000" y="3429000"/>
            <a:ext cx="777240" cy="0"/>
          </a:xfrm>
          <a:prstGeom prst="line">
            <a:avLst/>
          </a:prstGeom>
          <a:noFill/>
          <a:ln w="31750">
            <a:solidFill>
              <a:srgbClr val="13283B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532120" y="30632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추천 자리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65392" y="2011680"/>
            <a:ext cx="50749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65392" y="2011680"/>
            <a:ext cx="82296" cy="283464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15" name="Shape 13"/>
          <p:cNvSpPr/>
          <p:nvPr/>
        </p:nvSpPr>
        <p:spPr>
          <a:xfrm>
            <a:off x="6793992" y="219456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2792B"/>
          </a:solidFill>
          <a:ln/>
        </p:spPr>
      </p:sp>
      <p:sp>
        <p:nvSpPr>
          <p:cNvPr id="16" name="Text 14"/>
          <p:cNvSpPr/>
          <p:nvPr/>
        </p:nvSpPr>
        <p:spPr>
          <a:xfrm>
            <a:off x="6793992" y="21945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STEP B · 정밀 검증 (FDTD)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85432" y="2743200"/>
            <a:ext cx="4617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추천된 자리에 공유기를 놓고 실제 파동 시뮬 실행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진짜로 신호가 충분히 닿는지, 고르게 퍼지는지 측정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 추정이 놓친 그림자·회절을 여기서 잡아냄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9167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5029200"/>
            <a:ext cx="82296" cy="10058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1389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부족하면? 되먹임 보정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0" y="50749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검증에서 커버가 부족하면 → 신호 약한 곳 방향으로 공유기를 옮기고 → B를 다시 검증 (최대 3회).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이렇게 빠름(DPM)으로 좁히고 정확함(FDTD)으로 마무리해, 속도와 정확도를 모두 얻습니다.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3 · UI/UX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비전문가도 따라오는 단계 안내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‘무엇을 먼저 해야 하나’를 프로그램이 한 번에 하나씩 안내합니다.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103120"/>
            <a:ext cx="82296" cy="1600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233172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170432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도면 업로드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평면도 이미지 열기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2304288" y="2587752"/>
            <a:ext cx="109728" cy="0"/>
          </a:xfrm>
          <a:prstGeom prst="line">
            <a:avLst/>
          </a:prstGeom>
          <a:noFill/>
          <a:ln w="1651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14016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14016" y="2103120"/>
            <a:ext cx="82296" cy="1600200"/>
          </a:xfrm>
          <a:prstGeom prst="rect">
            <a:avLst/>
          </a:prstGeom>
          <a:solidFill>
            <a:srgbClr val="14A0B0"/>
          </a:solidFill>
          <a:ln/>
        </p:spPr>
      </p:sp>
      <p:sp>
        <p:nvSpPr>
          <p:cNvPr id="15" name="Shape 13"/>
          <p:cNvSpPr/>
          <p:nvPr/>
        </p:nvSpPr>
        <p:spPr>
          <a:xfrm>
            <a:off x="3035808" y="2331720"/>
            <a:ext cx="512064" cy="512064"/>
          </a:xfrm>
          <a:prstGeom prst="ellipse">
            <a:avLst/>
          </a:prstGeom>
          <a:solidFill>
            <a:srgbClr val="14A0B0"/>
          </a:solidFill>
          <a:ln/>
        </p:spPr>
      </p:sp>
      <p:sp>
        <p:nvSpPr>
          <p:cNvPr id="16" name="Text 14"/>
          <p:cNvSpPr/>
          <p:nvPr/>
        </p:nvSpPr>
        <p:spPr>
          <a:xfrm>
            <a:off x="3035808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505456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크기 맞추기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05456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실제 거리로 보정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169664" y="2587752"/>
            <a:ext cx="109728" cy="0"/>
          </a:xfrm>
          <a:prstGeom prst="line">
            <a:avLst/>
          </a:prstGeom>
          <a:noFill/>
          <a:ln w="1651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279392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79392" y="2103120"/>
            <a:ext cx="82296" cy="160020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1184" y="2331720"/>
            <a:ext cx="512064" cy="512064"/>
          </a:xfrm>
          <a:prstGeom prst="ellipse">
            <a:avLst/>
          </a:prstGeom>
          <a:solidFill>
            <a:srgbClr val="F4B23E"/>
          </a:solidFill>
          <a:ln/>
        </p:spPr>
      </p:sp>
      <p:sp>
        <p:nvSpPr>
          <p:cNvPr id="23" name="Text 21"/>
          <p:cNvSpPr/>
          <p:nvPr/>
        </p:nvSpPr>
        <p:spPr>
          <a:xfrm>
            <a:off x="4901184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370832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벽 그리기 완료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370832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버튼 클릭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6035040" y="2587752"/>
            <a:ext cx="109728" cy="0"/>
          </a:xfrm>
          <a:prstGeom prst="line">
            <a:avLst/>
          </a:prstGeom>
          <a:noFill/>
          <a:ln w="1651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144768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44768" y="2103120"/>
            <a:ext cx="82296" cy="160020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766560" y="2331720"/>
            <a:ext cx="512064" cy="512064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0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4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6236208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공유기 선택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36208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통신사 프리셋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7900416" y="2587752"/>
            <a:ext cx="109728" cy="0"/>
          </a:xfrm>
          <a:prstGeom prst="line">
            <a:avLst/>
          </a:prstGeom>
          <a:noFill/>
          <a:ln w="1651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010144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10144" y="2103120"/>
            <a:ext cx="82296" cy="160020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36" name="Shape 34"/>
          <p:cNvSpPr/>
          <p:nvPr/>
        </p:nvSpPr>
        <p:spPr>
          <a:xfrm>
            <a:off x="8631936" y="2331720"/>
            <a:ext cx="512064" cy="512064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37" name="Text 35"/>
          <p:cNvSpPr/>
          <p:nvPr/>
        </p:nvSpPr>
        <p:spPr>
          <a:xfrm>
            <a:off x="8631936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5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101584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자리 추천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01584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공간 고르고 실행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9765792" y="2587752"/>
            <a:ext cx="109728" cy="0"/>
          </a:xfrm>
          <a:prstGeom prst="line">
            <a:avLst/>
          </a:prstGeom>
          <a:noFill/>
          <a:ln w="1651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875520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875520" y="2103120"/>
            <a:ext cx="82296" cy="160020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97312" y="2331720"/>
            <a:ext cx="512064" cy="512064"/>
          </a:xfrm>
          <a:prstGeom prst="ellipse">
            <a:avLst/>
          </a:prstGeom>
          <a:solidFill>
            <a:srgbClr val="3FA86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97312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6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966960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자동 전파지도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966960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적용 즉시 생성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548640" y="4114800"/>
            <a:ext cx="54406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548640" y="4114800"/>
            <a:ext cx="82296" cy="19202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49" name="Text 47"/>
          <p:cNvSpPr/>
          <p:nvPr/>
        </p:nvSpPr>
        <p:spPr>
          <a:xfrm>
            <a:off x="77724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기존 흐름의 문제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68680" y="4709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공유기를 처음부터 사용자가 수동 배치</a:t>
            </a:r>
            <a:endParaRPr lang="en-US" sz="11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어디에 와이파이가 필요한지 모른 채 결과 표시</a:t>
            </a:r>
            <a:endParaRPr lang="en-US" sz="1180" dirty="0"/>
          </a:p>
          <a:p>
            <a:pPr marL="342900" indent="-342900"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다음에 뭘 해야 할지 알기 어려움</a:t>
            </a:r>
            <a:endParaRPr lang="en-US" sz="1180" dirty="0"/>
          </a:p>
        </p:txBody>
      </p:sp>
      <p:sp>
        <p:nvSpPr>
          <p:cNvPr id="51" name="Shape 49"/>
          <p:cNvSpPr/>
          <p:nvPr/>
        </p:nvSpPr>
        <p:spPr>
          <a:xfrm>
            <a:off x="6199632" y="4114800"/>
            <a:ext cx="54406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199632" y="4114800"/>
            <a:ext cx="82296" cy="192024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53" name="Text 51"/>
          <p:cNvSpPr/>
          <p:nvPr/>
        </p:nvSpPr>
        <p:spPr>
          <a:xfrm>
            <a:off x="6428232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개선된 흐름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519672" y="4709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자동 추천이 수동 배치를 대체 (수정은 사후에만)</a:t>
            </a:r>
            <a:endParaRPr lang="en-US" sz="11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‘쓸 공간’을 먼저 고르고 그 영역만 측정</a:t>
            </a:r>
            <a:endParaRPr lang="en-US" sz="1180" dirty="0"/>
          </a:p>
          <a:p>
            <a:pPr marL="342900" indent="-342900"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버튼·안내로 다음 단계를 명확히 제시</a:t>
            </a:r>
            <a:endParaRPr lang="en-US" sz="1180" dirty="0"/>
          </a:p>
        </p:txBody>
      </p:sp>
      <p:sp>
        <p:nvSpPr>
          <p:cNvPr id="55" name="Text 5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840480"/>
            <a:ext cx="4389120" cy="438912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38BDF8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4480560"/>
            <a:ext cx="3108960" cy="310896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1C7293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5120640"/>
            <a:ext cx="1828800" cy="182880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38BDF8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6400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12273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640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SUMMARY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1097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정리 — 무엇을 어떻게 만들었나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77240" y="2103120"/>
            <a:ext cx="3520440" cy="2103120"/>
          </a:xfrm>
          <a:prstGeom prst="rect">
            <a:avLst/>
          </a:prstGeom>
          <a:solidFill>
            <a:srgbClr val="12273B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03120"/>
            <a:ext cx="3520440" cy="8229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 구현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51560" y="2971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2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공간을 칸으로 나눠 전파를 물결처럼 한 칸씩 퍼뜨려 계산. 그림자·회절까지 자연 재현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80560" y="2103120"/>
            <a:ext cx="3520440" cy="2103120"/>
          </a:xfrm>
          <a:prstGeom prst="rect">
            <a:avLst/>
          </a:prstGeom>
          <a:solidFill>
            <a:srgbClr val="12273B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2103120"/>
            <a:ext cx="3520440" cy="82296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23E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실측 검증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54880" y="2971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2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검증 엔진을 직접 돌려 실제 전파장 이미지 확보 + 성능 측정 (방 하나 ≈2.8초, 초당 약 3.3억 칸)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83880" y="2103120"/>
            <a:ext cx="3520440" cy="2103120"/>
          </a:xfrm>
          <a:prstGeom prst="rect">
            <a:avLst/>
          </a:prstGeom>
          <a:solidFill>
            <a:srgbClr val="12273B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83880" y="2103120"/>
            <a:ext cx="3520440" cy="82296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18" name="Text 16"/>
          <p:cNvSpPr/>
          <p:nvPr/>
        </p:nvSpPr>
        <p:spPr>
          <a:xfrm>
            <a:off x="845820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A86A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 ↔ FDTD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58200" y="2971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2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빠른 추정으로 자리를 찾고, 정밀 시뮬로 검증·보정 — 속도와 정확도를 모두 확보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8680" y="49834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FC3D4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메인 화면에서 사용 공간을 직접 편집 (추천 때 쓴 영역 선택 재사용)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FC3D4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 검증 단계 속도 최적화 · 여러 주파수 동시 평가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Wi-Fi Heatmap Simulator — 캡스톤 디자인</dc:title>
  <dc:subject>PptxGenJS Presentation</dc:subject>
  <dc:creator>Wi-Fi Heatmap Simulator Team</dc:creator>
  <cp:lastModifiedBy>Wi-Fi Heatmap Simulator Team</cp:lastModifiedBy>
  <cp:revision>1</cp:revision>
  <dcterms:created xsi:type="dcterms:W3CDTF">2026-05-31T06:48:40Z</dcterms:created>
  <dcterms:modified xsi:type="dcterms:W3CDTF">2026-05-31T06:48:40Z</dcterms:modified>
</cp:coreProperties>
</file>