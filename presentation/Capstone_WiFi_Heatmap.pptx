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554480"/>
            <a:ext cx="5852160" cy="5852160"/>
          </a:xfrm>
          <a:prstGeom prst="ellipse">
            <a:avLst/>
          </a:prstGeom>
          <a:solidFill>
            <a:srgbClr val="0C1B2A">
              <a:alpha val="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822960"/>
            <a:ext cx="4389120" cy="4389120"/>
          </a:xfrm>
          <a:prstGeom prst="ellipse">
            <a:avLst/>
          </a:prstGeom>
          <a:solidFill>
            <a:srgbClr val="0C1B2A">
              <a:alpha val="0"/>
            </a:srgbClr>
          </a:solidFill>
          <a:ln w="12700">
            <a:solidFill>
              <a:srgbClr val="1C7293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91440"/>
            <a:ext cx="2926080" cy="2926080"/>
          </a:xfrm>
          <a:prstGeom prst="ellipse">
            <a:avLst/>
          </a:prstGeom>
          <a:solidFill>
            <a:srgbClr val="0C1B2A">
              <a:alpha val="0"/>
            </a:srgbClr>
          </a:solidFill>
          <a:ln w="12700">
            <a:solidFill>
              <a:srgbClr val="38BDF8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548640"/>
            <a:ext cx="1645920" cy="1645920"/>
          </a:xfrm>
          <a:prstGeom prst="ellipse">
            <a:avLst/>
          </a:prstGeom>
          <a:solidFill>
            <a:srgbClr val="0C1B2A">
              <a:alpha val="0"/>
            </a:srgbClr>
          </a:solidFill>
          <a:ln w="12700">
            <a:solidFill>
              <a:srgbClr val="1C7293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05288" y="1252728"/>
            <a:ext cx="237744" cy="237744"/>
          </a:xfrm>
          <a:prstGeom prst="ellipse">
            <a:avLst/>
          </a:prstGeom>
          <a:solidFill>
            <a:srgbClr val="F2792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173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227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CAPSTONE DESIGN · WEEKLY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Heatmap Simulator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49808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구현 이야기 — 전파 시뮬레이션(FDTD)과 공유기 자리 추천(DPM+FDTD)을 어떻게 만들었나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36118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FC3D4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호수에 돌을 던지면 물결이 퍼지듯, 컴퓨터 안에서 전파를 한 칸씩 실제로 퍼뜨려 계산하고 — 그 결과로 최적의 공유기 위치를 자동으로 찾습니다.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5074920"/>
            <a:ext cx="603504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[ 팀명 ]</a:t>
            </a:r>
            <a:pPr algn="l" indent="0" marL="0">
              <a:buNone/>
            </a:pPr>
            <a:r>
              <a:rPr lang="en-US" sz="13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   ·   [ 발표자 ]   ·   [ N주차 ]   ·   [ 과목명 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한눈에 보기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프로그램은 이렇게 동작합니다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도면을 올리면 → 와이파이 쓸 공간을 고르고 → 공유기 자리를 자동 추천 → 전파 지도(히트맵)로 확인. 그 안에서 두 계산 엔진이 협력합니다.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50545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82296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2677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89888" y="228600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공간 그리기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도면 업로드 → 실제 크기 맞추기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→ 벽 그리기 → 쓸 공간 선택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99816" y="2926080"/>
            <a:ext cx="246888" cy="0"/>
          </a:xfrm>
          <a:prstGeom prst="line">
            <a:avLst/>
          </a:prstGeom>
          <a:noFill/>
          <a:ln w="1905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92424" y="2011680"/>
            <a:ext cx="250545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92424" y="2011680"/>
            <a:ext cx="82296" cy="182880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15" name="Shape 13"/>
          <p:cNvSpPr/>
          <p:nvPr/>
        </p:nvSpPr>
        <p:spPr>
          <a:xfrm>
            <a:off x="3648456" y="2267712"/>
            <a:ext cx="457200" cy="457200"/>
          </a:xfrm>
          <a:prstGeom prst="ellipse">
            <a:avLst/>
          </a:prstGeom>
          <a:solidFill>
            <a:srgbClr val="F4B23E"/>
          </a:solidFill>
          <a:ln/>
        </p:spPr>
      </p:sp>
      <p:sp>
        <p:nvSpPr>
          <p:cNvPr id="16" name="Text 14"/>
          <p:cNvSpPr/>
          <p:nvPr/>
        </p:nvSpPr>
        <p:spPr>
          <a:xfrm>
            <a:off x="3648456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33672" y="228600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빠른 추정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66744" y="288036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후보 위치들을 빠른 모델(DPM)로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채점 — 최소 공유기로 최대 커버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926080"/>
            <a:ext cx="246888" cy="0"/>
          </a:xfrm>
          <a:prstGeom prst="line">
            <a:avLst/>
          </a:prstGeom>
          <a:noFill/>
          <a:ln w="1905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36208" y="2011680"/>
            <a:ext cx="250545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6208" y="2011680"/>
            <a:ext cx="82296" cy="1828800"/>
          </a:xfrm>
          <a:prstGeom prst="rect">
            <a:avLst/>
          </a:prstGeom>
          <a:solidFill>
            <a:srgbClr val="F2792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2267712"/>
            <a:ext cx="457200" cy="457200"/>
          </a:xfrm>
          <a:prstGeom prst="ellipse">
            <a:avLst/>
          </a:prstGeom>
          <a:solidFill>
            <a:srgbClr val="F279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77456" y="228600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정밀 검증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0528" y="288036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추천 자리를 전파 시뮬(FDTD)로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실제 검증 — 부족하면 옮겨 재검증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787384" y="2926080"/>
            <a:ext cx="246888" cy="0"/>
          </a:xfrm>
          <a:prstGeom prst="line">
            <a:avLst/>
          </a:prstGeom>
          <a:noFill/>
          <a:ln w="1905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79992" y="2011680"/>
            <a:ext cx="250545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079992" y="2011680"/>
            <a:ext cx="82296" cy="1828800"/>
          </a:xfrm>
          <a:prstGeom prst="rect">
            <a:avLst/>
          </a:prstGeom>
          <a:solidFill>
            <a:srgbClr val="3FA86A"/>
          </a:solidFill>
          <a:ln/>
        </p:spPr>
      </p:sp>
      <p:sp>
        <p:nvSpPr>
          <p:cNvPr id="29" name="Shape 27"/>
          <p:cNvSpPr/>
          <p:nvPr/>
        </p:nvSpPr>
        <p:spPr>
          <a:xfrm>
            <a:off x="9336024" y="2267712"/>
            <a:ext cx="457200" cy="457200"/>
          </a:xfrm>
          <a:prstGeom prst="ellipse">
            <a:avLst/>
          </a:prstGeom>
          <a:solidFill>
            <a:srgbClr val="3FA86A"/>
          </a:solidFill>
          <a:ln/>
        </p:spPr>
      </p:sp>
      <p:sp>
        <p:nvSpPr>
          <p:cNvPr id="30" name="Text 28"/>
          <p:cNvSpPr/>
          <p:nvPr/>
        </p:nvSpPr>
        <p:spPr>
          <a:xfrm>
            <a:off x="9336024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921240" y="228600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결과 확인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54312" y="288036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전파 지도 자동 생성 +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고른 공간 기준 품질 측정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4160520"/>
            <a:ext cx="82296" cy="187452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DPM — 빠른 추정 엔진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" y="4754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전파가 ‘가장 잘 통하는 길’만 빠르게 계산. 1초에 수많은 후보를 평가해 좋은 자리를 추려냄. (지배경로 모델, Dominant Path Model)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53912" y="416052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53912" y="4160520"/>
            <a:ext cx="82296" cy="1874520"/>
          </a:xfrm>
          <a:prstGeom prst="rect">
            <a:avLst/>
          </a:prstGeom>
          <a:solidFill>
            <a:srgbClr val="F2792B"/>
          </a:solidFill>
          <a:ln/>
        </p:spPr>
      </p:sp>
      <p:sp>
        <p:nvSpPr>
          <p:cNvPr id="39" name="Text 37"/>
          <p:cNvSpPr/>
          <p:nvPr/>
        </p:nvSpPr>
        <p:spPr>
          <a:xfrm>
            <a:off x="6382512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FDTD — 정밀 검증 엔진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382512" y="4754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전파를 물결처럼 실제로 퍼뜨려 계산. 느리지만 정확 — 추려진 자리가 진짜 맞는지 최종 확인. (전자기파 수치 시뮬레이션)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Wi-Fi Heatmap Simulator · 캡스톤 디자인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PART 1 · FDTD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FDTD, 쉽게 말하면 — 물결을 한 칸씩 퍼뜨리기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8521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82296" cy="4526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288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공간을 바둑판처럼 나눈다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98448" y="21762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방을 아주 작은 사각형 칸으로 분할 (격자, grid)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777240" y="2852928"/>
            <a:ext cx="402336" cy="402336"/>
          </a:xfrm>
          <a:prstGeom prst="ellipse">
            <a:avLst/>
          </a:prstGeom>
          <a:solidFill>
            <a:srgbClr val="14A0B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98448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칸에 전파 세기를 저장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98448" y="3200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칸마다 전기장·자기장 값을 기록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777240" y="3877056"/>
            <a:ext cx="402336" cy="402336"/>
          </a:xfrm>
          <a:prstGeom prst="ellipse">
            <a:avLst/>
          </a:prstGeom>
          <a:solidFill>
            <a:srgbClr val="F4B23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98448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옆 칸으로 조금씩 전달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98448" y="42245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아주 짧은 시간마다 이웃 칸으로 값을 넘기며 갱신 (시간 전진)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77240" y="4901184"/>
            <a:ext cx="402336" cy="402336"/>
          </a:xfrm>
          <a:prstGeom prst="ellipse">
            <a:avLst/>
          </a:prstGeom>
          <a:solidFill>
            <a:srgbClr val="F2792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901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98448" y="4864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수천 번 반복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98448" y="52486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물결이 퍼지듯 전파가 방 전체로 번지는 모습이 재현됨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519672" y="1554480"/>
            <a:ext cx="51206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1554480"/>
            <a:ext cx="82296" cy="4526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6748272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호수에 돌을 던진 것처럼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87768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71816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55864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9912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23960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08008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92056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76104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60152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44200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28248" y="2331720"/>
            <a:ext cx="0" cy="3072384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03720" y="2331720"/>
            <a:ext cx="4224528" cy="0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3720" y="2715768"/>
            <a:ext cx="4224528" cy="0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3099816"/>
            <a:ext cx="4224528" cy="0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3483864"/>
            <a:ext cx="4224528" cy="0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03720" y="3867912"/>
            <a:ext cx="4224528" cy="0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03720" y="4251960"/>
            <a:ext cx="4224528" cy="0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03720" y="4636008"/>
            <a:ext cx="4224528" cy="0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5020056"/>
            <a:ext cx="4224528" cy="0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03720" y="5404104"/>
            <a:ext cx="4224528" cy="0"/>
          </a:xfrm>
          <a:prstGeom prst="line">
            <a:avLst/>
          </a:prstGeom>
          <a:noFill/>
          <a:ln w="9525">
            <a:solidFill>
              <a:srgbClr val="CFE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30568" y="2450592"/>
            <a:ext cx="2834640" cy="2834640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14A0B0">
                <a:alpha val="7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96328" y="2816352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1C7293">
                <a:alpha val="63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34656" y="3154680"/>
            <a:ext cx="1426464" cy="1426464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14A0B0">
                <a:alpha val="51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36408" y="3456432"/>
            <a:ext cx="82296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1C7293">
                <a:alpha val="39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47304" y="3767328"/>
            <a:ext cx="201168" cy="201168"/>
          </a:xfrm>
          <a:prstGeom prst="ellipse">
            <a:avLst/>
          </a:prstGeom>
          <a:solidFill>
            <a:srgbClr val="F2792B"/>
          </a:solidFill>
          <a:ln/>
        </p:spPr>
      </p:sp>
      <p:sp>
        <p:nvSpPr>
          <p:cNvPr id="52" name="Shape 50"/>
          <p:cNvSpPr/>
          <p:nvPr/>
        </p:nvSpPr>
        <p:spPr>
          <a:xfrm>
            <a:off x="8247888" y="3867912"/>
            <a:ext cx="384048" cy="0"/>
          </a:xfrm>
          <a:prstGeom prst="line">
            <a:avLst/>
          </a:prstGeom>
          <a:noFill/>
          <a:ln w="20320">
            <a:solidFill>
              <a:srgbClr val="F2792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247888" y="3867912"/>
            <a:ext cx="-384048" cy="0"/>
          </a:xfrm>
          <a:prstGeom prst="line">
            <a:avLst/>
          </a:prstGeom>
          <a:noFill/>
          <a:ln w="20320">
            <a:solidFill>
              <a:srgbClr val="F2792B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247888" y="3867912"/>
            <a:ext cx="0" cy="384048"/>
          </a:xfrm>
          <a:prstGeom prst="line">
            <a:avLst/>
          </a:prstGeom>
          <a:noFill/>
          <a:ln w="20320">
            <a:solidFill>
              <a:srgbClr val="F2792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247888" y="3867912"/>
            <a:ext cx="0" cy="-384048"/>
          </a:xfrm>
          <a:prstGeom prst="line">
            <a:avLst/>
          </a:prstGeom>
          <a:noFill/>
          <a:ln w="20320">
            <a:solidFill>
              <a:srgbClr val="F2792B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6748272" y="5532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칸의 값이 매 순간 이웃 칸으로 전달 → 잔물결처럼 전파가 번져 나감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Wi-Fi Heatmap Simulator · 캡스톤 디자인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PART 1 · FDTD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안정적인 시뮬레이션을 위한 3가지 장치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935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82296" cy="3063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385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16736" y="19019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톱니바퀴처럼 엇갈린 배치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16736" y="224942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Yee 격자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전기장과 자기장을 반 칸씩 어긋난 위치에 배치. 톱니바퀴가 맞물리듯 두 장이 교차하며 갱신되어, 계산이 안정적이고 정확함.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35935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645920"/>
            <a:ext cx="82296" cy="3063240"/>
          </a:xfrm>
          <a:prstGeom prst="rect">
            <a:avLst/>
          </a:prstGeom>
          <a:solidFill>
            <a:srgbClr val="F2792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1938528"/>
            <a:ext cx="384048" cy="384048"/>
          </a:xfrm>
          <a:prstGeom prst="ellipse">
            <a:avLst/>
          </a:prstGeom>
          <a:solidFill>
            <a:srgbClr val="F27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65776" y="19019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안전한 시간 간격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65776" y="224942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CFL 조건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274320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시간 간격이 너무 크면 물결이 칸을 건너뛰어 계산이 발산. 안정 한계의 0.90배로 제한해 폭주를 방지.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4041648"/>
            <a:ext cx="3044952" cy="45720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404164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Δt = 0.90 · Δx / (c·√2)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46720" y="1645920"/>
            <a:ext cx="35935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0" y="1645920"/>
            <a:ext cx="82296" cy="3063240"/>
          </a:xfrm>
          <a:prstGeom prst="rect">
            <a:avLst/>
          </a:prstGeom>
          <a:solidFill>
            <a:srgbClr val="3FA86A"/>
          </a:solidFill>
          <a:ln/>
        </p:spPr>
      </p:sp>
      <p:sp>
        <p:nvSpPr>
          <p:cNvPr id="23" name="Shape 21"/>
          <p:cNvSpPr/>
          <p:nvPr/>
        </p:nvSpPr>
        <p:spPr>
          <a:xfrm>
            <a:off x="8321040" y="1938528"/>
            <a:ext cx="384048" cy="384048"/>
          </a:xfrm>
          <a:prstGeom prst="ellipse">
            <a:avLst/>
          </a:prstGeom>
          <a:solidFill>
            <a:srgbClr val="3FA86A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14816" y="19019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경계의 메아리 차단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814816" y="224942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PML 흡수층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21040" y="274320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경계에서 반사된 물결은 가짜 간섭의 원인. 가장자리에 ‘흡수 스펀지’ 층을 둬 무한히 열린 공간처럼 처리.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937760"/>
            <a:ext cx="82296" cy="109728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102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+  벽을 숫자로 새긴다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46120" y="510235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칸에 재질의 전기적 성질(유전율 εr, 전도율 σ)을 기록 → </a:t>
            </a:r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콘크리트·유리·석고보드의 서로 다른 차폐·투과 특성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별도 보정 없이 자연히 반영.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Wi-Fi Heatmap Simulator · 캡스톤 디자인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PART 1 · 실측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직접 돌려본 결과 — 그림자와 회절이 보인다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93776" y="1636776"/>
            <a:ext cx="6144768" cy="4590084"/>
          </a:xfrm>
          <a:prstGeom prst="rect">
            <a:avLst/>
          </a:prstGeom>
          <a:solidFill>
            <a:srgbClr val="0C1B2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pic>
        <p:nvPicPr>
          <p:cNvPr id="6" name="Image 0" descr="fdtd_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35040" cy="4480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2451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실제 검증 엔진(FdtdWaveSimulator) 실시간 파동 시각화 · 도식이 아닌 계산 결과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858000" y="1874520"/>
            <a:ext cx="182880" cy="182880"/>
          </a:xfrm>
          <a:prstGeom prst="ellipse">
            <a:avLst/>
          </a:prstGeom>
          <a:solidFill>
            <a:srgbClr val="F2792B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783080"/>
            <a:ext cx="4416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밝은 곳 = 강한 신호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78040" y="213055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공유기(소스)에서 가까울수록 전파가 강합니다.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0" y="278892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2697480"/>
            <a:ext cx="4416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벽 뒤 어두운 ‘그림자’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78040" y="304495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콘크리트 벽이 전파를 막아 뒤쪽이 약해집니다.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3703320"/>
            <a:ext cx="182880" cy="182880"/>
          </a:xfrm>
          <a:prstGeom prst="ellipse">
            <a:avLst/>
          </a:prstGeom>
          <a:solidFill>
            <a:srgbClr val="3FA86A"/>
          </a:solidFill>
          <a:ln/>
        </p:spPr>
      </p:sp>
      <p:sp>
        <p:nvSpPr>
          <p:cNvPr id="15" name="Text 12"/>
          <p:cNvSpPr/>
          <p:nvPr/>
        </p:nvSpPr>
        <p:spPr>
          <a:xfrm>
            <a:off x="7178040" y="3611880"/>
            <a:ext cx="4416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문틈으로 돌아 들어감 (회절)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78040" y="395935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벽이 끊긴 틈으로 전파가 휘어 들어갑니다.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0" y="4617720"/>
            <a:ext cx="182880" cy="182880"/>
          </a:xfrm>
          <a:prstGeom prst="ellipse">
            <a:avLst/>
          </a:prstGeom>
          <a:solidFill>
            <a:srgbClr val="F4B23E"/>
          </a:solidFill>
          <a:ln/>
        </p:spPr>
      </p:sp>
      <p:sp>
        <p:nvSpPr>
          <p:cNvPr id="18" name="Text 15"/>
          <p:cNvSpPr/>
          <p:nvPr/>
        </p:nvSpPr>
        <p:spPr>
          <a:xfrm>
            <a:off x="7178040" y="4526280"/>
            <a:ext cx="4416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칸막이 뒤 약해진 신호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78040" y="487375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석고보드는 약하게 막아 조금만 줄어듭니다.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0" y="5532120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→ 거리 공식으로 ‘추정’한 게 아니라 물결을 실제로 퍼뜨려 얻은 결과라, 그림자·회절이 저절로 나타납니다.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Wi-Fi Heatmap Simulator · 캡스톤 디자인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PART 1 · 실측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성능 — 노트북에서 방 하나를 1~2초에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아래 수치는 추정이 아니라 검증 엔진(FdtdWaveSimulator)을 직접 돌려 측정한 값입니다 (2.4GHz, 8m×6m 방, 격자 한 칸 약 1.5cm, 멀티스레드 CPU 7스레드).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791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82296" cy="1417320"/>
          </a:xfrm>
          <a:prstGeom prst="rect">
            <a:avLst/>
          </a:prstGeom>
          <a:solidFill>
            <a:srgbClr val="F279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12848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792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≈2.8초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5528" y="2907792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방 하나 정밀 시뮬 1회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46704" y="2011680"/>
            <a:ext cx="26791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46704" y="2011680"/>
            <a:ext cx="82296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2212848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232,171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93592" y="2907792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계산한 칸 수 (551×421)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2011680"/>
            <a:ext cx="26791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2011680"/>
            <a:ext cx="82296" cy="1417320"/>
          </a:xfrm>
          <a:prstGeom prst="rect">
            <a:avLst/>
          </a:prstGeom>
          <a:solidFill>
            <a:srgbClr val="3FA86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2212848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A86A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4,000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91656" y="2907792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시간 스텝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42832" y="2011680"/>
            <a:ext cx="26791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42832" y="2011680"/>
            <a:ext cx="82296" cy="1417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9171432" y="2212848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≈3.3억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89720" y="2907792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초당 칸 갱신 수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82296" cy="2377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측정값 요약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297680"/>
          <a:ext cx="5029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83B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1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83B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값</a:t>
                      </a:r>
                      <a:endParaRPr lang="en-US" sz="11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83B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비고</a:t>
                      </a:r>
                      <a:endParaRPr lang="en-US" sz="11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83B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격자</a:t>
                      </a:r>
                      <a:endParaRPr lang="en-US" sz="11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75B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551×421</a:t>
                      </a:r>
                      <a:endParaRPr lang="en-US" sz="11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75B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≈23만 칸</a:t>
                      </a:r>
                      <a:endParaRPr lang="en-US" sz="11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83B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1회 검증</a:t>
                      </a:r>
                      <a:endParaRPr lang="en-US" sz="11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75B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≈2.8초</a:t>
                      </a:r>
                      <a:endParaRPr lang="en-US" sz="11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75B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4000스텝</a:t>
                      </a:r>
                      <a:endParaRPr lang="en-US" sz="11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777240" y="5577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주파수↑ → 파장↓ → 칸이 더 촘촘해야 함 → 계산량↑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53912" y="36576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153912" y="3657600"/>
            <a:ext cx="82296" cy="2377440"/>
          </a:xfrm>
          <a:prstGeom prst="rect">
            <a:avLst/>
          </a:prstGeom>
          <a:solidFill>
            <a:srgbClr val="F2792B"/>
          </a:solidFill>
          <a:ln/>
        </p:spPr>
      </p:sp>
      <p:sp>
        <p:nvSpPr>
          <p:cNvPr id="29" name="Text 26"/>
          <p:cNvSpPr/>
          <p:nvPr/>
        </p:nvSpPr>
        <p:spPr>
          <a:xfrm>
            <a:off x="6382512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그래서 설계가 중요하다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382512" y="42976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정밀하지만 1~2초가 드는 FDTD를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모든 후보 위치마다 돌리면 너무 느립니다.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 그래서 빠른 추정(DPM)으로 좋은 자리를 먼저 추리고, FDTD는 최종 검증에만 씁니다.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382512" y="5577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792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→ 다음 파트: 두 엔진의 협업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Wi-Fi Heatmap Simulator · 캡스톤 디자인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PART 2 · 자동 추천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공유기 자리 추천 — 전체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목표: 사용자가 고른 공간에서, 신호가 충분한 영역을 ‘가장 적은 공유기’로 최대한 덮는 자리 찾기. (목표 세기 −65dBm)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103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82296" cy="2423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231343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307592" y="2313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" y="301752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쓸 공간 고르기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53872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벽으로 둘러싼 방을</a:t>
            </a:r>
            <a:endParaRPr lang="en-US" sz="108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클릭해 영역 지정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660904" y="2606040"/>
            <a:ext cx="146304" cy="0"/>
          </a:xfrm>
          <a:prstGeom prst="line">
            <a:avLst/>
          </a:prstGeom>
          <a:noFill/>
          <a:ln w="1905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16352" y="2057400"/>
            <a:ext cx="2103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16352" y="2057400"/>
            <a:ext cx="82296" cy="2423160"/>
          </a:xfrm>
          <a:prstGeom prst="rect">
            <a:avLst/>
          </a:prstGeom>
          <a:solidFill>
            <a:srgbClr val="14A0B0"/>
          </a:solidFill>
          <a:ln/>
        </p:spPr>
      </p:sp>
      <p:sp>
        <p:nvSpPr>
          <p:cNvPr id="15" name="Shape 13"/>
          <p:cNvSpPr/>
          <p:nvPr/>
        </p:nvSpPr>
        <p:spPr>
          <a:xfrm>
            <a:off x="3575304" y="2313432"/>
            <a:ext cx="585216" cy="585216"/>
          </a:xfrm>
          <a:prstGeom prst="ellipse">
            <a:avLst/>
          </a:prstGeom>
          <a:solidFill>
            <a:srgbClr val="14A0B0"/>
          </a:solidFill>
          <a:ln/>
        </p:spPr>
      </p:sp>
      <p:sp>
        <p:nvSpPr>
          <p:cNvPr id="16" name="Text 14"/>
          <p:cNvSpPr/>
          <p:nvPr/>
        </p:nvSpPr>
        <p:spPr>
          <a:xfrm>
            <a:off x="3575304" y="2313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926080" y="301752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후보 자리 만들기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53872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그 영역 안에만</a:t>
            </a:r>
            <a:endParaRPr lang="en-US" sz="108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후보·측정점 배치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928616" y="2606040"/>
            <a:ext cx="146304" cy="0"/>
          </a:xfrm>
          <a:prstGeom prst="line">
            <a:avLst/>
          </a:prstGeom>
          <a:noFill/>
          <a:ln w="1905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84064" y="2057400"/>
            <a:ext cx="2103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84064" y="2057400"/>
            <a:ext cx="82296" cy="242316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22" name="Shape 20"/>
          <p:cNvSpPr/>
          <p:nvPr/>
        </p:nvSpPr>
        <p:spPr>
          <a:xfrm>
            <a:off x="5843016" y="2313432"/>
            <a:ext cx="585216" cy="585216"/>
          </a:xfrm>
          <a:prstGeom prst="ellipse">
            <a:avLst/>
          </a:prstGeom>
          <a:solidFill>
            <a:srgbClr val="F4B23E"/>
          </a:solidFill>
          <a:ln/>
        </p:spPr>
      </p:sp>
      <p:sp>
        <p:nvSpPr>
          <p:cNvPr id="23" name="Text 21"/>
          <p:cNvSpPr/>
          <p:nvPr/>
        </p:nvSpPr>
        <p:spPr>
          <a:xfrm>
            <a:off x="5843016" y="2313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3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193792" y="301752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빠른 추정으로 선별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93792" y="353872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DPM으로 ‘새로 덮는</a:t>
            </a:r>
            <a:endParaRPr lang="en-US" sz="108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곳’이 가장 많은 자리 선택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196328" y="2606040"/>
            <a:ext cx="146304" cy="0"/>
          </a:xfrm>
          <a:prstGeom prst="line">
            <a:avLst/>
          </a:prstGeom>
          <a:noFill/>
          <a:ln w="1905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51776" y="2057400"/>
            <a:ext cx="2103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51776" y="2057400"/>
            <a:ext cx="82296" cy="2423160"/>
          </a:xfrm>
          <a:prstGeom prst="rect">
            <a:avLst/>
          </a:prstGeom>
          <a:solidFill>
            <a:srgbClr val="F2792B"/>
          </a:solidFill>
          <a:ln/>
        </p:spPr>
      </p:sp>
      <p:sp>
        <p:nvSpPr>
          <p:cNvPr id="29" name="Shape 27"/>
          <p:cNvSpPr/>
          <p:nvPr/>
        </p:nvSpPr>
        <p:spPr>
          <a:xfrm>
            <a:off x="8110728" y="2313432"/>
            <a:ext cx="585216" cy="585216"/>
          </a:xfrm>
          <a:prstGeom prst="ellipse">
            <a:avLst/>
          </a:prstGeom>
          <a:solidFill>
            <a:srgbClr val="F2792B"/>
          </a:solidFill>
          <a:ln/>
        </p:spPr>
      </p:sp>
      <p:sp>
        <p:nvSpPr>
          <p:cNvPr id="30" name="Text 28"/>
          <p:cNvSpPr/>
          <p:nvPr/>
        </p:nvSpPr>
        <p:spPr>
          <a:xfrm>
            <a:off x="8110728" y="2313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461504" y="301752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정밀 검증 + 보정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61504" y="353872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FDTD로 재확인,</a:t>
            </a:r>
            <a:endParaRPr lang="en-US" sz="108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부족하면 옮겨 재검증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464040" y="2606040"/>
            <a:ext cx="146304" cy="0"/>
          </a:xfrm>
          <a:prstGeom prst="line">
            <a:avLst/>
          </a:prstGeom>
          <a:noFill/>
          <a:ln w="1905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19488" y="2057400"/>
            <a:ext cx="2103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19488" y="2057400"/>
            <a:ext cx="82296" cy="2423160"/>
          </a:xfrm>
          <a:prstGeom prst="rect">
            <a:avLst/>
          </a:prstGeom>
          <a:solidFill>
            <a:srgbClr val="3FA86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78440" y="2313432"/>
            <a:ext cx="585216" cy="585216"/>
          </a:xfrm>
          <a:prstGeom prst="ellipse">
            <a:avLst/>
          </a:prstGeom>
          <a:solidFill>
            <a:srgbClr val="3FA86A"/>
          </a:solidFill>
          <a:ln/>
        </p:spPr>
      </p:sp>
      <p:sp>
        <p:nvSpPr>
          <p:cNvPr id="37" name="Text 35"/>
          <p:cNvSpPr/>
          <p:nvPr/>
        </p:nvSpPr>
        <p:spPr>
          <a:xfrm>
            <a:off x="10378440" y="2313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5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729216" y="301752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적용 → 전파 지도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729216" y="353872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추천 자리에 공유기 놓고</a:t>
            </a:r>
            <a:endParaRPr lang="en-US" sz="108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히트맵 즉시 생성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2103120" y="489204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FDE7D6"/>
          </a:solidFill>
          <a:ln/>
        </p:spPr>
      </p:sp>
      <p:sp>
        <p:nvSpPr>
          <p:cNvPr id="41" name="Text 39"/>
          <p:cNvSpPr/>
          <p:nvPr/>
        </p:nvSpPr>
        <p:spPr>
          <a:xfrm>
            <a:off x="2103120" y="4892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792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③ 빠른 추정 = DPM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766560" y="489204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FBE0D2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4892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792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④ 정밀 검증 = FDTD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두 단계(③④)가 어떻게 맞물리는지가 핵심입니다 — 다음 두 장에서 설명합니다.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Wi-Fi Heatmap Simulator · 캡스톤 디자인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PART 2 · 빠른 추정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DPM — ‘가장 잘 통하는 길’만 빠르게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82296" cy="448056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왜 빠른 추정이 필요할까?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FDTD는 정확하지만 방 하나에 1~2초. 후보 자리가 수백 곳이면 다 돌리기엔 너무 오래 걸립니다.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DPM의 핵심 아이디어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물이 벽을 못 뚫으면 문으로 돌아 흐르듯,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전파도 ‘가장 잘 통하는 길’을 따라간다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고 보고 — 그 한 경로의 손실만 빠르게 계산합니다. (지배경로 모델)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5029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B23E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→ 1초에 수많은 후보를 평가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 → 좋은 자리만 빠르게 추려냄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53912" y="160020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53912" y="1600200"/>
            <a:ext cx="82296" cy="4480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직선이 아니라 ‘돌아가는 길’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2377440"/>
            <a:ext cx="4800600" cy="2743200"/>
          </a:xfrm>
          <a:prstGeom prst="rect">
            <a:avLst/>
          </a:prstGeom>
          <a:solidFill>
            <a:srgbClr val="EAF1F6"/>
          </a:solidFill>
          <a:ln w="12700">
            <a:solidFill>
              <a:srgbClr val="6B7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2377440"/>
            <a:ext cx="118872" cy="1554480"/>
          </a:xfrm>
          <a:prstGeom prst="rect">
            <a:avLst/>
          </a:prstGeom>
          <a:solidFill>
            <a:srgbClr val="9AAEBD"/>
          </a:solidFill>
          <a:ln/>
        </p:spPr>
      </p:sp>
      <p:sp>
        <p:nvSpPr>
          <p:cNvPr id="17" name="Shape 15"/>
          <p:cNvSpPr/>
          <p:nvPr/>
        </p:nvSpPr>
        <p:spPr>
          <a:xfrm>
            <a:off x="7159752" y="4370832"/>
            <a:ext cx="219456" cy="219456"/>
          </a:xfrm>
          <a:prstGeom prst="ellipse">
            <a:avLst/>
          </a:prstGeom>
          <a:solidFill>
            <a:srgbClr val="F27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46085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792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공유기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332720" y="292608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0" y="26151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측정 지점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69480" y="4480560"/>
            <a:ext cx="1746504" cy="-411480"/>
          </a:xfrm>
          <a:prstGeom prst="line">
            <a:avLst/>
          </a:prstGeom>
          <a:noFill/>
          <a:ln w="31750">
            <a:solidFill>
              <a:srgbClr val="F4B2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15984" y="4069080"/>
            <a:ext cx="1408176" cy="-1051560"/>
          </a:xfrm>
          <a:prstGeom prst="line">
            <a:avLst/>
          </a:prstGeom>
          <a:noFill/>
          <a:ln w="31750">
            <a:solidFill>
              <a:srgbClr val="F4B2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4480560"/>
            <a:ext cx="3154680" cy="-1463040"/>
          </a:xfrm>
          <a:prstGeom prst="line">
            <a:avLst/>
          </a:prstGeom>
          <a:noFill/>
          <a:ln w="12700">
            <a:solidFill>
              <a:srgbClr val="D9534F">
                <a:alpha val="75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492240" y="52303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23E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우세 경로(문으로 우회)   </a:t>
            </a:r>
            <a:pPr algn="ctr" indent="0" marL="0">
              <a:buNone/>
            </a:pPr>
            <a:r>
              <a:rPr lang="en-US" sz="1100" dirty="0">
                <a:solidFill>
                  <a:srgbClr val="D9534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┄ </a:t>
            </a:r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직선(벽에 막힘)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Wi-Fi Heatmap Simulator · 캡스톤 디자인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PART 2 · 핵심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엔진의 협업 — 빠르게 찾고, 정밀하게 확인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초안은 빠르게(DPM), 최종 확인은 정밀하게(FDTD). 건축에서 스케치로 빠르게 잡고 구조해석으로 검증하는 것과 같습니다.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074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82296" cy="283464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19456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4B23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STEP A · 빠른 추정 (DPM)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수백 개 후보 자리를 1초 안에 채점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‘새로 덮이는 측정점’이 가장 많은 자리를 하나씩 선택 (그리디)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여러 대를 놓을 땐 서로 너무 붙지 않게 분산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15000" y="3429000"/>
            <a:ext cx="777240" cy="0"/>
          </a:xfrm>
          <a:prstGeom prst="line">
            <a:avLst/>
          </a:prstGeom>
          <a:noFill/>
          <a:ln w="31750">
            <a:solidFill>
              <a:srgbClr val="13283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532120" y="3063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추천 자리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65392" y="2011680"/>
            <a:ext cx="5074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65392" y="2011680"/>
            <a:ext cx="82296" cy="2834640"/>
          </a:xfrm>
          <a:prstGeom prst="rect">
            <a:avLst/>
          </a:prstGeom>
          <a:solidFill>
            <a:srgbClr val="F2792B"/>
          </a:solidFill>
          <a:ln/>
        </p:spPr>
      </p:sp>
      <p:sp>
        <p:nvSpPr>
          <p:cNvPr id="15" name="Shape 13"/>
          <p:cNvSpPr/>
          <p:nvPr/>
        </p:nvSpPr>
        <p:spPr>
          <a:xfrm>
            <a:off x="6793992" y="219456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27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793992" y="2194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STEP B · 정밀 검증 (FDTD)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85432" y="274320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추천된 자리에 공유기를 놓고 실제 파동 시뮬 실행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진짜로 신호가 충분히 닿는지, 고르게 퍼지는지 측정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DPM 추정이 놓친 그림자·회절을 여기서 잡아냄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5029200"/>
            <a:ext cx="82296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138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부족하면? 되먹임 보정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50749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검증에서 커버가 부족하면 → 신호 약한 곳 방향으로 공유기를 옮기고 → B를 다시 검증 (최대 3회).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이렇게 빠름(DPM)으로 좁히고 정확함(FDTD)으로 마무리해, 속도와 정확도를 모두 얻습니다.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Wi-Fi Heatmap Simulator · 캡스톤 디자인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PART 3 · UI/UX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비전문가도 따라오는 단계 안내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‘무엇을 먼저 해야 하나’를 프로그램이 한 번에 하나씩 안내합니다.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75564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82296" cy="1600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23317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도면 업로드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644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평면도 이미지 열기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304288" y="2587752"/>
            <a:ext cx="109728" cy="0"/>
          </a:xfrm>
          <a:prstGeom prst="line">
            <a:avLst/>
          </a:prstGeom>
          <a:noFill/>
          <a:ln w="1651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14016" y="2103120"/>
            <a:ext cx="175564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14016" y="2103120"/>
            <a:ext cx="82296" cy="1600200"/>
          </a:xfrm>
          <a:prstGeom prst="rect">
            <a:avLst/>
          </a:prstGeom>
          <a:solidFill>
            <a:srgbClr val="14A0B0"/>
          </a:solidFill>
          <a:ln/>
        </p:spPr>
      </p:sp>
      <p:sp>
        <p:nvSpPr>
          <p:cNvPr id="15" name="Shape 13"/>
          <p:cNvSpPr/>
          <p:nvPr/>
        </p:nvSpPr>
        <p:spPr>
          <a:xfrm>
            <a:off x="3035808" y="2331720"/>
            <a:ext cx="512064" cy="512064"/>
          </a:xfrm>
          <a:prstGeom prst="ellipse">
            <a:avLst/>
          </a:prstGeom>
          <a:solidFill>
            <a:srgbClr val="14A0B0"/>
          </a:solidFill>
          <a:ln/>
        </p:spPr>
      </p:sp>
      <p:sp>
        <p:nvSpPr>
          <p:cNvPr id="16" name="Text 14"/>
          <p:cNvSpPr/>
          <p:nvPr/>
        </p:nvSpPr>
        <p:spPr>
          <a:xfrm>
            <a:off x="303580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505456" y="29260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크기 맞추기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05456" y="32644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실제 거리로 보정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169664" y="2587752"/>
            <a:ext cx="109728" cy="0"/>
          </a:xfrm>
          <a:prstGeom prst="line">
            <a:avLst/>
          </a:prstGeom>
          <a:noFill/>
          <a:ln w="1651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79392" y="2103120"/>
            <a:ext cx="175564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79392" y="2103120"/>
            <a:ext cx="82296" cy="160020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22" name="Shape 20"/>
          <p:cNvSpPr/>
          <p:nvPr/>
        </p:nvSpPr>
        <p:spPr>
          <a:xfrm>
            <a:off x="4901184" y="2331720"/>
            <a:ext cx="512064" cy="512064"/>
          </a:xfrm>
          <a:prstGeom prst="ellipse">
            <a:avLst/>
          </a:prstGeom>
          <a:solidFill>
            <a:srgbClr val="F4B23E"/>
          </a:solidFill>
          <a:ln/>
        </p:spPr>
      </p:sp>
      <p:sp>
        <p:nvSpPr>
          <p:cNvPr id="23" name="Text 21"/>
          <p:cNvSpPr/>
          <p:nvPr/>
        </p:nvSpPr>
        <p:spPr>
          <a:xfrm>
            <a:off x="4901184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370832" y="29260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벽 그리기 완료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70832" y="32644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버튼 클릭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035040" y="2587752"/>
            <a:ext cx="109728" cy="0"/>
          </a:xfrm>
          <a:prstGeom prst="line">
            <a:avLst/>
          </a:prstGeom>
          <a:noFill/>
          <a:ln w="1651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44768" y="2103120"/>
            <a:ext cx="175564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44768" y="2103120"/>
            <a:ext cx="82296" cy="1600200"/>
          </a:xfrm>
          <a:prstGeom prst="rect">
            <a:avLst/>
          </a:prstGeom>
          <a:solidFill>
            <a:srgbClr val="F279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766560" y="2331720"/>
            <a:ext cx="512064" cy="512064"/>
          </a:xfrm>
          <a:prstGeom prst="ellipse">
            <a:avLst/>
          </a:prstGeom>
          <a:solidFill>
            <a:srgbClr val="F2792B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236208" y="29260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공유기 선택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32644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통신사 프리셋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900416" y="2587752"/>
            <a:ext cx="109728" cy="0"/>
          </a:xfrm>
          <a:prstGeom prst="line">
            <a:avLst/>
          </a:prstGeom>
          <a:noFill/>
          <a:ln w="1651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10144" y="2103120"/>
            <a:ext cx="175564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10144" y="2103120"/>
            <a:ext cx="82296" cy="1600200"/>
          </a:xfrm>
          <a:prstGeom prst="rect">
            <a:avLst/>
          </a:prstGeom>
          <a:solidFill>
            <a:srgbClr val="F2792B"/>
          </a:solidFill>
          <a:ln/>
        </p:spPr>
      </p:sp>
      <p:sp>
        <p:nvSpPr>
          <p:cNvPr id="36" name="Shape 34"/>
          <p:cNvSpPr/>
          <p:nvPr/>
        </p:nvSpPr>
        <p:spPr>
          <a:xfrm>
            <a:off x="8631936" y="2331720"/>
            <a:ext cx="512064" cy="512064"/>
          </a:xfrm>
          <a:prstGeom prst="ellipse">
            <a:avLst/>
          </a:prstGeom>
          <a:solidFill>
            <a:srgbClr val="F2792B"/>
          </a:solidFill>
          <a:ln/>
        </p:spPr>
      </p:sp>
      <p:sp>
        <p:nvSpPr>
          <p:cNvPr id="37" name="Text 35"/>
          <p:cNvSpPr/>
          <p:nvPr/>
        </p:nvSpPr>
        <p:spPr>
          <a:xfrm>
            <a:off x="8631936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5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101584" y="29260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자리 추천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01584" y="32644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공간 고르고 실행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9765792" y="2587752"/>
            <a:ext cx="109728" cy="0"/>
          </a:xfrm>
          <a:prstGeom prst="line">
            <a:avLst/>
          </a:prstGeom>
          <a:noFill/>
          <a:ln w="1651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875520" y="2103120"/>
            <a:ext cx="175564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875520" y="2103120"/>
            <a:ext cx="82296" cy="1600200"/>
          </a:xfrm>
          <a:prstGeom prst="rect">
            <a:avLst/>
          </a:prstGeom>
          <a:solidFill>
            <a:srgbClr val="3FA86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97312" y="2331720"/>
            <a:ext cx="512064" cy="512064"/>
          </a:xfrm>
          <a:prstGeom prst="ellipse">
            <a:avLst/>
          </a:prstGeom>
          <a:solidFill>
            <a:srgbClr val="3FA86A"/>
          </a:solidFill>
          <a:ln/>
        </p:spPr>
      </p:sp>
      <p:sp>
        <p:nvSpPr>
          <p:cNvPr id="44" name="Text 42"/>
          <p:cNvSpPr/>
          <p:nvPr/>
        </p:nvSpPr>
        <p:spPr>
          <a:xfrm>
            <a:off x="10497312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6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966960" y="29260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자동 전파지도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966960" y="32644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적용 즉시 생성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548640" y="411480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8640" y="4114800"/>
            <a:ext cx="82296" cy="192024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기존 흐름의 문제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68680" y="4709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공유기를 처음부터 사용자가 수동 배치</a:t>
            </a:r>
            <a:endParaRPr lang="en-US" sz="11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어디에 와이파이가 필요한지 모른 채 결과 표시</a:t>
            </a:r>
            <a:endParaRPr lang="en-US" sz="1180" dirty="0"/>
          </a:p>
          <a:p>
            <a:pPr marL="342900" indent="-342900">
              <a:buSzPct val="100000"/>
              <a:buChar char="•"/>
            </a:pPr>
            <a:r>
              <a:rPr lang="en-US" sz="11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다음에 뭘 해야 할지 알기 어려움</a:t>
            </a:r>
            <a:endParaRPr lang="en-US" sz="1180" dirty="0"/>
          </a:p>
        </p:txBody>
      </p:sp>
      <p:sp>
        <p:nvSpPr>
          <p:cNvPr id="51" name="Shape 49"/>
          <p:cNvSpPr/>
          <p:nvPr/>
        </p:nvSpPr>
        <p:spPr>
          <a:xfrm>
            <a:off x="6199632" y="411480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C1B2A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99632" y="4114800"/>
            <a:ext cx="82296" cy="1920240"/>
          </a:xfrm>
          <a:prstGeom prst="rect">
            <a:avLst/>
          </a:prstGeom>
          <a:solidFill>
            <a:srgbClr val="3FA86A"/>
          </a:solidFill>
          <a:ln/>
        </p:spPr>
      </p:sp>
      <p:sp>
        <p:nvSpPr>
          <p:cNvPr id="53" name="Text 51"/>
          <p:cNvSpPr/>
          <p:nvPr/>
        </p:nvSpPr>
        <p:spPr>
          <a:xfrm>
            <a:off x="6428232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개선된 흐름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519672" y="4709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자동 추천이 수동 배치를 대체 (수정은 사후에만)</a:t>
            </a:r>
            <a:endParaRPr lang="en-US" sz="11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‘쓸 공간’을 먼저 고르고 그 영역만 측정</a:t>
            </a:r>
            <a:endParaRPr lang="en-US" sz="1180" dirty="0"/>
          </a:p>
          <a:p>
            <a:pPr marL="342900" indent="-342900">
              <a:buSzPct val="100000"/>
              <a:buChar char="•"/>
            </a:pPr>
            <a:r>
              <a:rPr lang="en-US" sz="1180" dirty="0">
                <a:solidFill>
                  <a:srgbClr val="33475B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버튼·안내로 다음 단계를 명확히 제시</a:t>
            </a:r>
            <a:endParaRPr lang="en-US" sz="1180" dirty="0"/>
          </a:p>
        </p:txBody>
      </p:sp>
      <p:sp>
        <p:nvSpPr>
          <p:cNvPr id="55" name="Text 5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Wi-Fi Heatmap Simulator · 캡스톤 디자인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840480"/>
            <a:ext cx="4389120" cy="4389120"/>
          </a:xfrm>
          <a:prstGeom prst="ellipse">
            <a:avLst/>
          </a:prstGeom>
          <a:solidFill>
            <a:srgbClr val="0C1B2A">
              <a:alpha val="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3108960" cy="3108960"/>
          </a:xfrm>
          <a:prstGeom prst="ellipse">
            <a:avLst/>
          </a:prstGeom>
          <a:solidFill>
            <a:srgbClr val="0C1B2A">
              <a:alpha val="0"/>
            </a:srgbClr>
          </a:solidFill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5120640"/>
            <a:ext cx="1828800" cy="1828800"/>
          </a:xfrm>
          <a:prstGeom prst="ellipse">
            <a:avLst/>
          </a:prstGeom>
          <a:solidFill>
            <a:srgbClr val="0C1B2A">
              <a:alpha val="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400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227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40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097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정리 — 무엇을 어떻게 만들었나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3520440" cy="2103120"/>
          </a:xfrm>
          <a:prstGeom prst="rect">
            <a:avLst/>
          </a:prstGeom>
          <a:solidFill>
            <a:srgbClr val="1227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03120"/>
            <a:ext cx="3520440" cy="82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FDTD 구현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2971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2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공간을 칸으로 나눠 전파를 물결처럼 한 칸씩 퍼뜨려 계산. 그림자·회절까지 자연 재현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3520440" cy="2103120"/>
          </a:xfrm>
          <a:prstGeom prst="rect">
            <a:avLst/>
          </a:prstGeom>
          <a:solidFill>
            <a:srgbClr val="1227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103120"/>
            <a:ext cx="3520440" cy="82296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B23E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실측 검증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2971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2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검증 엔진을 직접 돌려 실제 전파장 이미지 확보 + 성능 측정 (방 하나 ≈2.8초, 초당 약 3.3억 칸)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2103120"/>
            <a:ext cx="3520440" cy="2103120"/>
          </a:xfrm>
          <a:prstGeom prst="rect">
            <a:avLst/>
          </a:prstGeom>
          <a:solidFill>
            <a:srgbClr val="1227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103120"/>
            <a:ext cx="3520440" cy="82296"/>
          </a:xfrm>
          <a:prstGeom prst="rect">
            <a:avLst/>
          </a:prstGeom>
          <a:solidFill>
            <a:srgbClr val="3FA86A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A86A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DPM ↔ FDTD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2971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2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빠른 추정으로 자리를 찾고, 정밀 시뮬로 검증·보정 — 속도와 정확도를 모두 확보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983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FC3D4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메인 화면에서 사용 공간을 직접 편집 (추천 때 쓴 영역 선택 재사용)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FC3D4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FDTD 검증 단계 속도 최적화 · 여러 주파수 동시 평가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Wi-Fi Heatmap Simulator · 캡스톤 디자인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Wi-Fi Heatmap Simulator — 캡스톤 디자인</dc:title>
  <dc:subject>PptxGenJS Presentation</dc:subject>
  <dc:creator>Wi-Fi Heatmap Simulator Team</dc:creator>
  <cp:lastModifiedBy>Wi-Fi Heatmap Simulator Team</cp:lastModifiedBy>
  <cp:revision>1</cp:revision>
  <dcterms:created xsi:type="dcterms:W3CDTF">2026-06-01T10:55:59Z</dcterms:created>
  <dcterms:modified xsi:type="dcterms:W3CDTF">2026-06-01T10:55:59Z</dcterms:modified>
</cp:coreProperties>
</file>