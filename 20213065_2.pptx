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8"/>
    <p:restoredTop sz="94682"/>
  </p:normalViewPr>
  <p:slideViewPr>
    <p:cSldViewPr snapToGrid="0" snapToObjects="1">
      <p:cViewPr varScale="1">
        <p:scale>
          <a:sx n="48" d="100"/>
          <a:sy n="48" d="100"/>
        </p:scale>
        <p:origin x="240" y="2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58000"/>
            <a:ext cx="12344400" cy="1905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100" b="1">
                <a:solidFill>
                  <a:srgbClr val="4B6587"/>
                </a:solidFill>
                <a:latin typeface="Open Sans"/>
              </a:defRPr>
            </a:pPr>
            <a:r>
              <a:t>Wi-Fi 전파 시뮬레이터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0">
                <a:solidFill>
                  <a:srgbClr val="4B6587"/>
                </a:solidFill>
                <a:latin typeface="Open Sans"/>
              </a:defRPr>
            </a:pPr>
            <a:r>
              <a:t>관련 연구 비교와 발전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85648" y="9144000"/>
            <a:ext cx="464515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rPr lang="ko-KR" altLang="en-US" dirty="0"/>
              <a:t>지도교수</a:t>
            </a:r>
            <a:r>
              <a:rPr lang="en-US" altLang="ko-KR" dirty="0"/>
              <a:t>:</a:t>
            </a:r>
            <a:r>
              <a:rPr lang="ko-KR" altLang="en-US" dirty="0"/>
              <a:t> 박동규 교수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0" y="3392424"/>
            <a:ext cx="13716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도면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Wi-Fi </a:t>
            </a:r>
            <a:r>
              <a:rPr dirty="0" err="1"/>
              <a:t>신호를</a:t>
            </a:r>
            <a:r>
              <a:rPr dirty="0"/>
              <a:t> </a:t>
            </a:r>
            <a:r>
              <a:rPr dirty="0" err="1"/>
              <a:t>미리</a:t>
            </a:r>
            <a:r>
              <a:rPr dirty="0"/>
              <a:t> </a:t>
            </a:r>
            <a:r>
              <a:rPr dirty="0" err="1"/>
              <a:t>예측하는</a:t>
            </a:r>
            <a:endParaRPr dirty="0"/>
          </a:p>
          <a:p>
            <a:pPr algn="ctr">
              <a:spcBef>
                <a:spcPts val="600"/>
              </a:spcBef>
              <a:spcAft>
                <a:spcPts val="200"/>
              </a:spcAft>
              <a:defRPr sz="40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시뮬레이터를</a:t>
            </a:r>
            <a:r>
              <a:rPr dirty="0"/>
              <a:t> </a:t>
            </a:r>
            <a:r>
              <a:rPr dirty="0" err="1"/>
              <a:t>만들고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ctr">
              <a:spcBef>
                <a:spcPts val="600"/>
              </a:spcBef>
              <a:spcAft>
                <a:spcPts val="200"/>
              </a:spcAft>
              <a:defRPr sz="4000" b="1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발표</a:t>
            </a:r>
            <a:r>
              <a:rPr dirty="0"/>
              <a:t>:</a:t>
            </a:r>
          </a:p>
          <a:p>
            <a:pPr algn="ctr">
              <a:spcBef>
                <a:spcPts val="600"/>
              </a:spcBef>
              <a:spcAft>
                <a:spcPts val="200"/>
              </a:spcAft>
              <a:defRPr sz="40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연구</a:t>
            </a:r>
            <a:r>
              <a:rPr dirty="0"/>
              <a:t>/</a:t>
            </a:r>
            <a:r>
              <a:rPr dirty="0" err="1"/>
              <a:t>도구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→ </a:t>
            </a:r>
            <a:r>
              <a:rPr dirty="0" err="1"/>
              <a:t>차별점</a:t>
            </a:r>
            <a:r>
              <a:rPr dirty="0"/>
              <a:t> → </a:t>
            </a:r>
            <a:r>
              <a:rPr dirty="0" err="1"/>
              <a:t>발전</a:t>
            </a:r>
            <a:r>
              <a:rPr dirty="0"/>
              <a:t> </a:t>
            </a:r>
            <a:r>
              <a:rPr dirty="0" err="1"/>
              <a:t>방향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B6587"/>
                </a:solidFill>
                <a:latin typeface="Open Sans"/>
              </a:defRPr>
            </a:pPr>
            <a:r>
              <a:t>배경지식 — 전파 예측의 3가지 접근법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4937760" cy="658368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경험적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Empirical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46634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측정</a:t>
            </a:r>
            <a:r>
              <a:rPr dirty="0"/>
              <a:t> </a:t>
            </a:r>
            <a:r>
              <a:rPr dirty="0" err="1"/>
              <a:t>데이터에서</a:t>
            </a:r>
            <a:r>
              <a:rPr dirty="0"/>
              <a:t> </a:t>
            </a:r>
            <a:br>
              <a:rPr lang="en-US" dirty="0"/>
            </a:br>
            <a:r>
              <a:rPr lang="ko-KR" altLang="en-US" dirty="0"/>
              <a:t>패</a:t>
            </a:r>
            <a:r>
              <a:rPr dirty="0" err="1"/>
              <a:t>턴을</a:t>
            </a:r>
            <a:r>
              <a:rPr dirty="0"/>
              <a:t> </a:t>
            </a:r>
            <a:r>
              <a:rPr dirty="0" err="1"/>
              <a:t>뽑아</a:t>
            </a:r>
            <a:r>
              <a:rPr dirty="0"/>
              <a:t> </a:t>
            </a:r>
            <a:r>
              <a:rPr dirty="0" err="1"/>
              <a:t>만든</a:t>
            </a:r>
            <a:r>
              <a:rPr dirty="0"/>
              <a:t> </a:t>
            </a:r>
            <a:r>
              <a:rPr dirty="0" err="1"/>
              <a:t>계산식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장점</a:t>
            </a:r>
            <a:r>
              <a:rPr dirty="0"/>
              <a:t>: </a:t>
            </a:r>
            <a:r>
              <a:rPr dirty="0" err="1"/>
              <a:t>빠름</a:t>
            </a:r>
            <a:r>
              <a:rPr dirty="0"/>
              <a:t> (0.5초 </a:t>
            </a:r>
            <a:r>
              <a:rPr dirty="0" err="1"/>
              <a:t>이내</a:t>
            </a:r>
            <a:r>
              <a:rPr dirty="0"/>
              <a:t>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단점</a:t>
            </a:r>
            <a:r>
              <a:rPr dirty="0"/>
              <a:t>: </a:t>
            </a:r>
            <a:r>
              <a:rPr dirty="0" err="1"/>
              <a:t>반사</a:t>
            </a:r>
            <a:r>
              <a:rPr dirty="0"/>
              <a:t>/</a:t>
            </a:r>
            <a:r>
              <a:rPr dirty="0" err="1"/>
              <a:t>회절</a:t>
            </a:r>
            <a:r>
              <a:rPr dirty="0"/>
              <a:t> </a:t>
            </a:r>
            <a:r>
              <a:rPr dirty="0" err="1"/>
              <a:t>부정확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92240" y="2286000"/>
            <a:ext cx="4937760" cy="658368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레이트레이싱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76656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6587"/>
                </a:solidFill>
                <a:latin typeface="Open Sans"/>
              </a:defRPr>
            </a:pPr>
            <a:r>
              <a:t>Ray Tracing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657600"/>
            <a:ext cx="466344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빛처럼</a:t>
            </a:r>
            <a:r>
              <a:rPr dirty="0"/>
              <a:t> </a:t>
            </a:r>
            <a:r>
              <a:rPr dirty="0" err="1"/>
              <a:t>직선</a:t>
            </a:r>
            <a:r>
              <a:rPr dirty="0"/>
              <a:t> </a:t>
            </a:r>
            <a:r>
              <a:rPr dirty="0" err="1"/>
              <a:t>경로를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추적하여</a:t>
            </a:r>
            <a:r>
              <a:rPr dirty="0"/>
              <a:t> </a:t>
            </a:r>
            <a:r>
              <a:rPr dirty="0" err="1"/>
              <a:t>반사</a:t>
            </a:r>
            <a:r>
              <a:rPr dirty="0"/>
              <a:t>/</a:t>
            </a:r>
            <a:r>
              <a:rPr dirty="0" err="1"/>
              <a:t>투과</a:t>
            </a:r>
            <a:r>
              <a:rPr dirty="0"/>
              <a:t> </a:t>
            </a:r>
            <a:r>
              <a:rPr dirty="0" err="1"/>
              <a:t>계산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장점</a:t>
            </a:r>
            <a:r>
              <a:rPr dirty="0"/>
              <a:t>: </a:t>
            </a:r>
            <a:r>
              <a:rPr dirty="0" err="1"/>
              <a:t>반사</a:t>
            </a:r>
            <a:r>
              <a:rPr dirty="0"/>
              <a:t> </a:t>
            </a:r>
            <a:r>
              <a:rPr dirty="0" err="1"/>
              <a:t>잘</a:t>
            </a:r>
            <a:r>
              <a:rPr dirty="0"/>
              <a:t> </a:t>
            </a:r>
            <a:r>
              <a:rPr dirty="0" err="1"/>
              <a:t>모델링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단점</a:t>
            </a:r>
            <a:r>
              <a:rPr dirty="0"/>
              <a:t>: </a:t>
            </a:r>
            <a:r>
              <a:rPr dirty="0" err="1"/>
              <a:t>회절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</a:t>
            </a:r>
            <a:r>
              <a:rPr dirty="0" err="1"/>
              <a:t>어려움</a:t>
            </a:r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11887200" y="2286000"/>
            <a:ext cx="4937760" cy="658368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16152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FDTD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0" y="3108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Finite-Difference Time-Domain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0" y="3657600"/>
            <a:ext cx="4663440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격자</a:t>
            </a:r>
            <a:r>
              <a:rPr dirty="0"/>
              <a:t> </a:t>
            </a:r>
            <a:r>
              <a:rPr dirty="0" err="1"/>
              <a:t>위에서</a:t>
            </a:r>
            <a:r>
              <a:rPr dirty="0"/>
              <a:t> </a:t>
            </a:r>
            <a:r>
              <a:rPr dirty="0" err="1"/>
              <a:t>전파의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시뮬레이션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장점</a:t>
            </a:r>
            <a:r>
              <a:rPr dirty="0"/>
              <a:t>: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정확</a:t>
            </a:r>
            <a:r>
              <a:rPr dirty="0"/>
              <a:t> (</a:t>
            </a:r>
            <a:r>
              <a:rPr dirty="0" err="1"/>
              <a:t>반사+회절</a:t>
            </a:r>
            <a:r>
              <a:rPr dirty="0"/>
              <a:t>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단점</a:t>
            </a:r>
            <a:r>
              <a:rPr dirty="0"/>
              <a:t>: </a:t>
            </a:r>
            <a:r>
              <a:rPr dirty="0" err="1"/>
              <a:t>계산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김</a:t>
            </a:r>
            <a:r>
              <a:rPr dirty="0"/>
              <a:t> </a:t>
            </a:r>
            <a:br>
              <a:rPr lang="en-US" dirty="0"/>
            </a:br>
            <a:r>
              <a:rPr dirty="0"/>
              <a:t>(</a:t>
            </a:r>
            <a:r>
              <a:rPr dirty="0" err="1"/>
              <a:t>수초~수분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9326880"/>
            <a:ext cx="1600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빠르고</a:t>
            </a:r>
            <a:r>
              <a:rPr dirty="0"/>
              <a:t> </a:t>
            </a:r>
            <a:r>
              <a:rPr dirty="0" err="1"/>
              <a:t>부정확</a:t>
            </a:r>
            <a:r>
              <a:rPr dirty="0"/>
              <a:t>  </a:t>
            </a:r>
            <a:r>
              <a:rPr lang="en-US" altLang="ko-KR" dirty="0"/>
              <a:t>&lt;</a:t>
            </a:r>
            <a:r>
              <a:rPr dirty="0"/>
              <a:t>─────────────────────────────────────────</a:t>
            </a:r>
            <a:r>
              <a:rPr lang="ko-KR" altLang="en-US" dirty="0"/>
              <a:t>─</a:t>
            </a:r>
            <a:r>
              <a:rPr lang="en-US" altLang="ko-KR" dirty="0"/>
              <a:t>&gt;</a:t>
            </a:r>
            <a:r>
              <a:rPr dirty="0"/>
              <a:t>  </a:t>
            </a:r>
            <a:r>
              <a:rPr dirty="0" err="1"/>
              <a:t>느리고</a:t>
            </a:r>
            <a:r>
              <a:rPr dirty="0"/>
              <a:t> </a:t>
            </a:r>
            <a:r>
              <a:rPr dirty="0" err="1"/>
              <a:t>정확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B6587"/>
                </a:solidFill>
                <a:latin typeface="Open Sans"/>
              </a:defRPr>
            </a:pPr>
            <a:r>
              <a:t>관련 연구와 기존 도구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학술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7315200" cy="3011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/>
              <a:t>• Gorce et al. — 2D </a:t>
            </a:r>
            <a:r>
              <a:rPr dirty="0" err="1"/>
              <a:t>FDTD로</a:t>
            </a:r>
            <a:r>
              <a:rPr dirty="0"/>
              <a:t> </a:t>
            </a:r>
            <a:r>
              <a:rPr dirty="0" err="1"/>
              <a:t>실내</a:t>
            </a:r>
            <a:r>
              <a:rPr dirty="0"/>
              <a:t> WLAN </a:t>
            </a:r>
            <a:br>
              <a:rPr lang="en-US" dirty="0"/>
            </a:br>
            <a:r>
              <a:rPr dirty="0" err="1"/>
              <a:t>시뮬레이션</a:t>
            </a:r>
            <a:endParaRPr dirty="0"/>
          </a:p>
          <a:p>
            <a:pPr algn="l">
              <a:spcBef>
                <a:spcPts val="12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Hybrid RT+FDTD (IEEE) — </a:t>
            </a:r>
            <a:r>
              <a:rPr dirty="0" err="1"/>
              <a:t>넓은</a:t>
            </a:r>
            <a:r>
              <a:rPr dirty="0"/>
              <a:t> </a:t>
            </a:r>
            <a:r>
              <a:rPr dirty="0" err="1"/>
              <a:t>영역은</a:t>
            </a:r>
            <a:r>
              <a:rPr dirty="0"/>
              <a:t> RT, </a:t>
            </a:r>
            <a:r>
              <a:rPr dirty="0" err="1"/>
              <a:t>복잡한</a:t>
            </a:r>
            <a:r>
              <a:rPr dirty="0"/>
              <a:t> </a:t>
            </a:r>
            <a:r>
              <a:rPr dirty="0" err="1"/>
              <a:t>부분만</a:t>
            </a:r>
            <a:r>
              <a:rPr dirty="0"/>
              <a:t> FDTD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</a:t>
            </a:r>
            <a:r>
              <a:rPr dirty="0" err="1"/>
              <a:t>Fuschini</a:t>
            </a:r>
            <a:r>
              <a:rPr dirty="0"/>
              <a:t> et al. (2015) — </a:t>
            </a:r>
            <a:r>
              <a:rPr dirty="0" err="1"/>
              <a:t>레이트레이싱</a:t>
            </a:r>
            <a:r>
              <a:rPr dirty="0"/>
              <a:t> </a:t>
            </a:r>
            <a:r>
              <a:rPr dirty="0" err="1"/>
              <a:t>기법</a:t>
            </a:r>
            <a:r>
              <a:rPr dirty="0"/>
              <a:t> </a:t>
            </a:r>
            <a:r>
              <a:rPr dirty="0" err="1"/>
              <a:t>종합</a:t>
            </a:r>
            <a:r>
              <a:rPr dirty="0"/>
              <a:t> </a:t>
            </a:r>
            <a:r>
              <a:rPr dirty="0" err="1"/>
              <a:t>리뷰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058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기존 도구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2560320"/>
            <a:ext cx="73152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[</a:t>
            </a:r>
            <a:r>
              <a:rPr dirty="0" err="1"/>
              <a:t>상용</a:t>
            </a:r>
            <a:r>
              <a:rPr dirty="0"/>
              <a:t> </a:t>
            </a:r>
            <a:r>
              <a:rPr dirty="0" err="1"/>
              <a:t>고가</a:t>
            </a:r>
            <a:r>
              <a:rPr dirty="0"/>
              <a:t>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  </a:t>
            </a:r>
            <a:r>
              <a:rPr dirty="0" err="1"/>
              <a:t>Ekahau</a:t>
            </a:r>
            <a:r>
              <a:rPr dirty="0"/>
              <a:t> AI Pro — $8,000+/</a:t>
            </a:r>
            <a:r>
              <a:rPr dirty="0" err="1"/>
              <a:t>년</a:t>
            </a:r>
            <a:r>
              <a:rPr dirty="0"/>
              <a:t>, AI/ML </a:t>
            </a:r>
            <a:r>
              <a:rPr dirty="0" err="1"/>
              <a:t>기반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  Wireless InSite — 3D RT+FDTD, </a:t>
            </a:r>
            <a:r>
              <a:rPr dirty="0" err="1"/>
              <a:t>견적</a:t>
            </a:r>
            <a:r>
              <a:rPr dirty="0"/>
              <a:t> </a:t>
            </a:r>
            <a:r>
              <a:rPr dirty="0" err="1"/>
              <a:t>기반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[</a:t>
            </a:r>
            <a:r>
              <a:rPr dirty="0" err="1"/>
              <a:t>중가</a:t>
            </a:r>
            <a:r>
              <a:rPr dirty="0"/>
              <a:t> </a:t>
            </a:r>
            <a:r>
              <a:rPr dirty="0" err="1"/>
              <a:t>플래닝</a:t>
            </a:r>
            <a:r>
              <a:rPr dirty="0"/>
              <a:t>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  </a:t>
            </a:r>
            <a:r>
              <a:rPr dirty="0" err="1"/>
              <a:t>NetSpot</a:t>
            </a:r>
            <a:r>
              <a:rPr dirty="0"/>
              <a:t> Pro — $149~499, </a:t>
            </a:r>
            <a:r>
              <a:rPr dirty="0" err="1"/>
              <a:t>경험적</a:t>
            </a:r>
            <a:r>
              <a:rPr dirty="0"/>
              <a:t> </a:t>
            </a:r>
            <a:r>
              <a:rPr dirty="0" err="1"/>
              <a:t>모델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4B6587"/>
                </a:solidFill>
                <a:latin typeface="Open Sans"/>
              </a:defRPr>
            </a:pP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8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[</a:t>
            </a:r>
            <a:r>
              <a:rPr dirty="0" err="1"/>
              <a:t>무료</a:t>
            </a:r>
            <a:r>
              <a:rPr dirty="0"/>
              <a:t>/</a:t>
            </a:r>
            <a:r>
              <a:rPr dirty="0" err="1"/>
              <a:t>오픈소스</a:t>
            </a:r>
            <a:r>
              <a:rPr dirty="0"/>
              <a:t>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  </a:t>
            </a:r>
            <a:r>
              <a:rPr dirty="0" err="1"/>
              <a:t>WiFi</a:t>
            </a:r>
            <a:r>
              <a:rPr dirty="0"/>
              <a:t> Solver — 2D FDTD, </a:t>
            </a:r>
            <a:r>
              <a:rPr dirty="0" err="1"/>
              <a:t>WebGPU</a:t>
            </a:r>
            <a:r>
              <a:rPr dirty="0"/>
              <a:t>, 2.4GHz만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  MEEP — </a:t>
            </a:r>
            <a:r>
              <a:rPr dirty="0" err="1"/>
              <a:t>범용</a:t>
            </a:r>
            <a:r>
              <a:rPr dirty="0"/>
              <a:t> FDTD, </a:t>
            </a:r>
            <a:r>
              <a:rPr dirty="0" err="1"/>
              <a:t>스크립트</a:t>
            </a:r>
            <a:r>
              <a:rPr dirty="0"/>
              <a:t> </a:t>
            </a:r>
            <a:r>
              <a:rPr dirty="0" err="1"/>
              <a:t>전용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B6587"/>
                </a:solidFill>
                <a:latin typeface="Open Sans"/>
              </a:defRPr>
            </a:pPr>
            <a:r>
              <a:t>기존 접근의 장단점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"</a:t>
            </a:r>
            <a:r>
              <a:rPr dirty="0" err="1"/>
              <a:t>각각</a:t>
            </a:r>
            <a:r>
              <a:rPr dirty="0"/>
              <a:t> </a:t>
            </a:r>
            <a:r>
              <a:rPr dirty="0" err="1"/>
              <a:t>장단점이</a:t>
            </a:r>
            <a:r>
              <a:rPr dirty="0"/>
              <a:t> </a:t>
            </a:r>
            <a:r>
              <a:rPr dirty="0" err="1"/>
              <a:t>있는데</a:t>
            </a:r>
            <a:r>
              <a:rPr dirty="0"/>
              <a:t>, </a:t>
            </a:r>
            <a:r>
              <a:rPr dirty="0" err="1"/>
              <a:t>이걸</a:t>
            </a:r>
            <a:r>
              <a:rPr dirty="0"/>
              <a:t> </a:t>
            </a:r>
            <a:r>
              <a:rPr dirty="0" err="1"/>
              <a:t>합치면</a:t>
            </a:r>
            <a:r>
              <a:rPr dirty="0"/>
              <a:t> </a:t>
            </a:r>
            <a:r>
              <a:rPr dirty="0" err="1"/>
              <a:t>어떨까</a:t>
            </a:r>
            <a:r>
              <a:rPr dirty="0"/>
              <a:t>?"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2286000"/>
          <a:ext cx="16002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접근법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rPr dirty="0" err="1"/>
                        <a:t>대표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도구</a:t>
                      </a: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장점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단점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경험적/AI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rPr dirty="0" err="1"/>
                        <a:t>Ekahau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NetSpot</a:t>
                      </a: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빠름, 쓰기 쉬움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물리적 근거 부족</a:t>
                      </a:r>
                    </a:p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복잡한 환경에서 부정확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레이트레이싱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Wireless InSite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반사 잘 모델링, 3D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회절 한계, 매우 고가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FDTD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WiFi Solver, MEEP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물리적으로 가장 정확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느림, GUI 없거나 제한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하이브리드</a:t>
                      </a:r>
                    </a:p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(경험적+FDTD)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본 프로젝트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빠름+정확, 둘 다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rPr dirty="0"/>
                        <a:t>2D </a:t>
                      </a:r>
                      <a:r>
                        <a:rPr dirty="0" err="1"/>
                        <a:t>한정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검증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필요</a:t>
                      </a:r>
                      <a:endParaRPr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0" y="86868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B6587"/>
                </a:solidFill>
                <a:latin typeface="Open Sans"/>
              </a:defRPr>
            </a:pPr>
            <a:r>
              <a:t>이 아이디어를 적용한 것이 본 프로젝트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B6587"/>
                </a:solidFill>
                <a:latin typeface="Open Sans"/>
              </a:defRPr>
            </a:pPr>
            <a:r>
              <a:t>차별점 한눈에 — 비교 매트릭스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645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B6587"/>
                </a:solidFill>
                <a:latin typeface="Open Sans"/>
              </a:defRPr>
            </a:pPr>
            <a:r>
              <a:t>각 항목은 공식 사이트/문서에서 확인한 사실 기반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664208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본 프로젝트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Ekahau</a:t>
                      </a:r>
                    </a:p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AI Pro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NetSpot</a:t>
                      </a:r>
                    </a:p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Pro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WiFi</a:t>
                      </a:r>
                    </a:p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Solver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MEEP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물리 기반 FDTD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 (AI/ML)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 (경험적)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 (범용)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빠른 경험적 모델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 (AI)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두 모델 동시 제공</a:t>
                      </a:r>
                    </a:p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(하이브리드)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Wi-Fi 전용 GUI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 (웹)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벽 재질 모델</a:t>
                      </a:r>
                    </a:p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(ITU-R P.2040)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 (밴드별)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 (프리셋)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기본만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 (수동)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멀티밴드</a:t>
                      </a:r>
                    </a:p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(2.4/5/6 GHz)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 (2.4만)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수동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무료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($8,000+)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X</a:t>
                      </a:r>
                    </a:p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($149~)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>
                          <a:solidFill>
                            <a:srgbClr val="4B6587"/>
                          </a:solidFill>
                          <a:latin typeface="Open Sans"/>
                        </a:defRPr>
                      </a:pPr>
                      <a:r>
                        <a:t>O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914400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6587"/>
                </a:solidFill>
                <a:latin typeface="Open Sans"/>
              </a:defRPr>
            </a:pPr>
            <a:r>
              <a:t>하이브리드 이중 엔진 — 경험적 모델과 FDTD를 하나의 도구에서 동시 제공하는 것은 기존 도구에 없는 조합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B6587"/>
                </a:solidFill>
                <a:latin typeface="Open Sans"/>
              </a:defRPr>
            </a:pPr>
            <a:r>
              <a:t>차별점 상세 — 하이브리드 이중 엔진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7498079" cy="32004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기존 도구의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79"/>
            <a:ext cx="694944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경험적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OR FDTD —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하나만</a:t>
            </a:r>
            <a:r>
              <a:rPr dirty="0"/>
              <a:t> </a:t>
            </a:r>
            <a:r>
              <a:rPr dirty="0" err="1"/>
              <a:t>선택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6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</a:t>
            </a:r>
            <a:r>
              <a:rPr dirty="0" err="1"/>
              <a:t>Ekahau</a:t>
            </a:r>
            <a:r>
              <a:rPr dirty="0"/>
              <a:t>/</a:t>
            </a:r>
            <a:r>
              <a:rPr dirty="0" err="1"/>
              <a:t>NetSpot</a:t>
            </a:r>
            <a:r>
              <a:rPr dirty="0"/>
              <a:t> </a:t>
            </a:r>
            <a:br>
              <a:rPr lang="en-US" dirty="0"/>
            </a:br>
            <a:r>
              <a:rPr dirty="0"/>
              <a:t>→ </a:t>
            </a:r>
            <a:r>
              <a:rPr dirty="0" err="1"/>
              <a:t>빠르지만</a:t>
            </a:r>
            <a:r>
              <a:rPr dirty="0"/>
              <a:t> </a:t>
            </a:r>
            <a:r>
              <a:rPr dirty="0" err="1"/>
              <a:t>물리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없음</a:t>
            </a:r>
            <a:endParaRPr dirty="0"/>
          </a:p>
          <a:p>
            <a:pPr algn="l">
              <a:spcBef>
                <a:spcPts val="600"/>
              </a:spcBef>
              <a:spcAft>
                <a:spcPts val="200"/>
              </a:spcAft>
              <a:defRPr sz="26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</a:t>
            </a:r>
            <a:r>
              <a:rPr dirty="0" err="1"/>
              <a:t>WiFi</a:t>
            </a:r>
            <a:r>
              <a:rPr dirty="0"/>
              <a:t> Solver/MEEP </a:t>
            </a:r>
            <a:br>
              <a:rPr lang="en-US" dirty="0"/>
            </a:br>
            <a:r>
              <a:rPr dirty="0"/>
              <a:t>→ </a:t>
            </a:r>
            <a:r>
              <a:rPr dirty="0" err="1"/>
              <a:t>정확하지만</a:t>
            </a:r>
            <a:r>
              <a:rPr dirty="0"/>
              <a:t> 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피드백</a:t>
            </a:r>
            <a:r>
              <a:rPr dirty="0"/>
              <a:t> </a:t>
            </a:r>
            <a:r>
              <a:rPr dirty="0" err="1"/>
              <a:t>없음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9418319" y="2103120"/>
            <a:ext cx="7498079" cy="32004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0" y="2286000"/>
            <a:ext cx="694944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500" b="1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본</a:t>
            </a:r>
            <a:r>
              <a:rPr dirty="0"/>
              <a:t> </a:t>
            </a:r>
            <a:r>
              <a:rPr dirty="0" err="1"/>
              <a:t>프로젝트</a:t>
            </a:r>
            <a:r>
              <a:rPr dirty="0"/>
              <a:t>: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92640" y="2926079"/>
            <a:ext cx="6949440" cy="1502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피드백</a:t>
            </a:r>
            <a:r>
              <a:rPr dirty="0"/>
              <a:t>(Legacy) + </a:t>
            </a:r>
            <a:r>
              <a:rPr dirty="0" err="1"/>
              <a:t>정밀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(FDTD)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6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"</a:t>
            </a:r>
            <a:r>
              <a:rPr dirty="0" err="1"/>
              <a:t>네비가</a:t>
            </a:r>
            <a:r>
              <a:rPr dirty="0"/>
              <a:t> </a:t>
            </a:r>
            <a:r>
              <a:rPr dirty="0" err="1"/>
              <a:t>대략적인</a:t>
            </a:r>
            <a:r>
              <a:rPr dirty="0"/>
              <a:t> </a:t>
            </a:r>
            <a:r>
              <a:rPr dirty="0" err="1"/>
              <a:t>경로를</a:t>
            </a:r>
            <a:r>
              <a:rPr dirty="0"/>
              <a:t> </a:t>
            </a:r>
            <a:r>
              <a:rPr dirty="0" err="1"/>
              <a:t>잡아주고</a:t>
            </a:r>
            <a:r>
              <a:rPr dirty="0"/>
              <a:t>,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600" b="1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교통정보로</a:t>
            </a:r>
            <a:r>
              <a:rPr dirty="0"/>
              <a:t> </a:t>
            </a:r>
            <a:r>
              <a:rPr dirty="0" err="1"/>
              <a:t>최적</a:t>
            </a:r>
            <a:r>
              <a:rPr dirty="0"/>
              <a:t> </a:t>
            </a:r>
            <a:r>
              <a:rPr dirty="0" err="1"/>
              <a:t>경로를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760720"/>
            <a:ext cx="4754880" cy="32004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5943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6587"/>
                </a:solidFill>
                <a:latin typeface="Open Sans"/>
              </a:defRPr>
            </a:pPr>
            <a:r>
              <a:t>STEP 1: Legacy 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6675120"/>
            <a:ext cx="42062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히트맵</a:t>
            </a:r>
            <a:r>
              <a:rPr dirty="0"/>
              <a:t> </a:t>
            </a:r>
            <a:r>
              <a:rPr dirty="0" err="1"/>
              <a:t>확인</a:t>
            </a:r>
            <a:br>
              <a:rPr dirty="0"/>
            </a:br>
            <a:r>
              <a:rPr dirty="0"/>
              <a:t>→ AP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대략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6583680" y="5760720"/>
            <a:ext cx="4754880" cy="32004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5943600"/>
            <a:ext cx="4206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STEP 2: FDTD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66751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t>정밀 시뮬레이션 (수초~수분)</a:t>
            </a:r>
            <a:br/>
            <a:r>
              <a:t>→ 회절/반사 패턴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95760" y="5760720"/>
            <a:ext cx="4754880" cy="32004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70080" y="5943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6587"/>
                </a:solidFill>
                <a:latin typeface="Open Sans"/>
              </a:defRPr>
            </a:pPr>
            <a:r>
              <a:t>STEP 3: 결과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0" y="66751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dirty="0" err="1"/>
              <a:t>두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나란히</a:t>
            </a:r>
            <a:r>
              <a:rPr dirty="0"/>
              <a:t> </a:t>
            </a:r>
            <a:r>
              <a:rPr dirty="0" err="1"/>
              <a:t>비교</a:t>
            </a:r>
            <a:br>
              <a:rPr dirty="0"/>
            </a:br>
            <a:r>
              <a:rPr dirty="0"/>
              <a:t>→ </a:t>
            </a:r>
            <a:r>
              <a:rPr dirty="0" err="1"/>
              <a:t>최적</a:t>
            </a:r>
            <a:r>
              <a:rPr dirty="0"/>
              <a:t> </a:t>
            </a:r>
            <a:r>
              <a:rPr dirty="0" err="1"/>
              <a:t>배치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6172200" y="6858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858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B6587"/>
                </a:solidFill>
                <a:latin typeface="Open Sans"/>
              </a:defRPr>
            </a:pPr>
            <a:r>
              <a:t>향후 발전 방향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286000"/>
            <a:ext cx="5029200" cy="59436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단기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3291840"/>
            <a:ext cx="41148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448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lang="en-US" altLang="ko-KR" dirty="0"/>
              <a:t>• </a:t>
            </a:r>
            <a:r>
              <a:rPr lang="ko-KR" altLang="en-US" dirty="0"/>
              <a:t>기본 동작하는 시뮬레이터 </a:t>
            </a:r>
            <a:r>
              <a:rPr lang="en-US" altLang="ko-KR" dirty="0"/>
              <a:t>1</a:t>
            </a:r>
            <a:r>
              <a:rPr lang="ko-KR" altLang="en-US" dirty="0"/>
              <a:t>개 완성</a:t>
            </a:r>
            <a:endParaRPr lang="en-US" altLang="ko-KR" dirty="0"/>
          </a:p>
        </p:txBody>
      </p:sp>
      <p:sp>
        <p:nvSpPr>
          <p:cNvPr id="9" name="Rectangle 8"/>
          <p:cNvSpPr/>
          <p:nvPr/>
        </p:nvSpPr>
        <p:spPr>
          <a:xfrm>
            <a:off x="6583680" y="2286000"/>
            <a:ext cx="5029200" cy="59436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중기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3291840"/>
            <a:ext cx="41148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</a:t>
            </a:r>
            <a:r>
              <a:rPr dirty="0" err="1"/>
              <a:t>실측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r>
              <a:rPr dirty="0"/>
              <a:t>(MAE/</a:t>
            </a:r>
            <a:r>
              <a:rPr dirty="0" err="1"/>
              <a:t>RMSE로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</a:t>
            </a:r>
            <a:r>
              <a:rPr dirty="0" err="1"/>
              <a:t>수치화</a:t>
            </a: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669280"/>
            <a:ext cx="4480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AI </a:t>
            </a:r>
            <a:r>
              <a:rPr dirty="0" err="1"/>
              <a:t>보조</a:t>
            </a:r>
            <a:r>
              <a:rPr dirty="0"/>
              <a:t> </a:t>
            </a:r>
            <a:r>
              <a:rPr dirty="0" err="1"/>
              <a:t>예측</a:t>
            </a:r>
            <a:br>
              <a:rPr dirty="0"/>
            </a:br>
            <a:r>
              <a:rPr dirty="0"/>
              <a:t>(</a:t>
            </a:r>
            <a:r>
              <a:rPr dirty="0" err="1"/>
              <a:t>빠른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+ FDTD </a:t>
            </a:r>
            <a:r>
              <a:rPr dirty="0" err="1"/>
              <a:t>정확도</a:t>
            </a:r>
            <a:r>
              <a:rPr dirty="0"/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70080" y="2286000"/>
            <a:ext cx="5029200" cy="59436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장기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7280" y="3291840"/>
            <a:ext cx="41148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0" y="3657600"/>
            <a:ext cx="4480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dirty="0"/>
              <a:t>• </a:t>
            </a:r>
            <a:r>
              <a:rPr lang="en-US" dirty="0"/>
              <a:t>AP</a:t>
            </a:r>
            <a:r>
              <a:rPr lang="ko-KR" altLang="en-US" dirty="0"/>
              <a:t>위치 추천 기능</a:t>
            </a:r>
            <a:endParaRPr lang="en-US" altLang="ko-KR" dirty="0"/>
          </a:p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endParaRPr lang="en-US" dirty="0"/>
          </a:p>
          <a:p>
            <a:pPr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lang="en-US" altLang="ko-KR" dirty="0"/>
              <a:t>• </a:t>
            </a:r>
            <a:r>
              <a:rPr lang="ko-KR" altLang="en-US" dirty="0"/>
              <a:t>성능 개선</a:t>
            </a:r>
            <a:r>
              <a:rPr lang="en-US" altLang="ko-KR" dirty="0"/>
              <a:t>(GPU or </a:t>
            </a:r>
            <a:r>
              <a:rPr lang="ko-KR" altLang="en-US" dirty="0"/>
              <a:t>병렬처리</a:t>
            </a:r>
            <a:r>
              <a:rPr lang="en-US" altLang="ko-KR" dirty="0"/>
              <a:t>)</a:t>
            </a:r>
            <a:endParaRPr lang="ko-KR" altLang="en-US" dirty="0"/>
          </a:p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endParaRPr lang="en-US" dirty="0"/>
          </a:p>
          <a:p>
            <a:pPr>
              <a:defRPr sz="2400" b="0">
                <a:solidFill>
                  <a:srgbClr val="4B6587"/>
                </a:solidFill>
                <a:latin typeface="Open Sans"/>
              </a:defRPr>
            </a:pPr>
            <a:r>
              <a:rPr lang="en-US" altLang="ko-KR" dirty="0"/>
              <a:t>• </a:t>
            </a:r>
            <a:r>
              <a:rPr lang="ko-KR" altLang="en-US" dirty="0"/>
              <a:t>여러 </a:t>
            </a:r>
            <a:r>
              <a:rPr lang="en-US" altLang="ko-KR" dirty="0"/>
              <a:t>AP </a:t>
            </a:r>
            <a:r>
              <a:rPr lang="ko-KR" altLang="en-US" dirty="0"/>
              <a:t>자동 배치</a:t>
            </a:r>
          </a:p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645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4B6587"/>
                </a:solidFill>
                <a:latin typeface="Open Sans"/>
              </a:defRPr>
            </a:pPr>
            <a:r>
              <a:t>결론 — 내가 만들고 싶은 최종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645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B6587"/>
                </a:solidFill>
                <a:latin typeface="Open Sans"/>
              </a:defRPr>
            </a:pPr>
            <a:r>
              <a:t>"누구나 도면만 올리면 Wi-Fi 커버리지를 정확하게 예측할 수 있는 도구"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3657600" cy="50292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3200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B6587"/>
                </a:solidFill>
                <a:latin typeface="Open Sans"/>
              </a:defRPr>
            </a:pPr>
            <a:r>
              <a:t>1. 도면 업로드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4023360"/>
            <a:ext cx="27432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B6587"/>
                </a:solidFill>
                <a:latin typeface="Open Sans"/>
              </a:defRPr>
            </a:pPr>
            <a:r>
              <a:t>AI가 벽을</a:t>
            </a:r>
            <a:br/>
            <a:r>
              <a:t>자동 인식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2926080"/>
            <a:ext cx="3657600" cy="50292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4960" y="3200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B6587"/>
                </a:solidFill>
                <a:latin typeface="Open Sans"/>
              </a:defRPr>
            </a:pPr>
            <a:r>
              <a:t>2. 빠른 모델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4023360"/>
            <a:ext cx="27432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4960" y="4389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B6587"/>
                </a:solidFill>
                <a:latin typeface="Open Sans"/>
              </a:defRPr>
            </a:pPr>
            <a:r>
              <a:t>즉시 커버리지</a:t>
            </a:r>
            <a:br/>
            <a:r>
              <a:t>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926080"/>
            <a:ext cx="3657600" cy="50292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59" y="3200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B6587"/>
                </a:solidFill>
                <a:latin typeface="Open Sans"/>
              </a:defRPr>
            </a:pPr>
            <a:r>
              <a:t>3. FDTD 정밀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4023360"/>
            <a:ext cx="27432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59" y="4389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B6587"/>
                </a:solidFill>
                <a:latin typeface="Open Sans"/>
              </a:defRPr>
            </a:pPr>
            <a:r>
              <a:t>필요한 영역만</a:t>
            </a:r>
            <a:br/>
            <a:r>
              <a:t>GPU로 수초 내 완료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441680" y="2926080"/>
            <a:ext cx="3657600" cy="50292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624559" y="3200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4B6587"/>
                </a:solidFill>
                <a:latin typeface="Open Sans"/>
              </a:defRPr>
            </a:pPr>
            <a:r>
              <a:t>4. 자동 보정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898880" y="4023360"/>
            <a:ext cx="2743200" cy="1016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624559" y="4389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4B6587"/>
                </a:solidFill>
                <a:latin typeface="Open Sans"/>
              </a:defRPr>
            </a:pPr>
            <a:r>
              <a:t>실측 데이터와</a:t>
            </a:r>
            <a:br/>
            <a:r>
              <a:t>비교·보정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030200" y="4754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B6587"/>
                </a:solidFill>
                <a:latin typeface="Open Sans"/>
              </a:defRPr>
            </a:pPr>
            <a:r>
              <a:t>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14630400" cy="18288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1371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1.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도구들은</a:t>
            </a:r>
            <a:r>
              <a:rPr dirty="0"/>
              <a:t> </a:t>
            </a:r>
            <a:r>
              <a:rPr dirty="0" err="1"/>
              <a:t>빠르거나</a:t>
            </a:r>
            <a:r>
              <a:rPr dirty="0"/>
              <a:t> </a:t>
            </a:r>
            <a:r>
              <a:rPr dirty="0" err="1"/>
              <a:t>정확하거나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하나</a:t>
            </a:r>
            <a:br>
              <a:rPr dirty="0"/>
            </a:br>
            <a:r>
              <a:rPr dirty="0"/>
              <a:t>   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dirty="0">
                <a:sym typeface="Wingdings" pitchFamily="2" charset="2"/>
              </a:rPr>
              <a:t> 목표는</a:t>
            </a:r>
            <a:r>
              <a:rPr dirty="0"/>
              <a:t> </a:t>
            </a:r>
            <a:r>
              <a:rPr dirty="0" err="1"/>
              <a:t>둘</a:t>
            </a:r>
            <a:r>
              <a:rPr dirty="0"/>
              <a:t> </a:t>
            </a:r>
            <a:r>
              <a:rPr dirty="0" err="1"/>
              <a:t>다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828800" y="4572000"/>
            <a:ext cx="14630400" cy="18288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4846320"/>
            <a:ext cx="13716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2. </a:t>
            </a:r>
            <a:r>
              <a:rPr dirty="0" err="1"/>
              <a:t>하이브리드</a:t>
            </a:r>
            <a:r>
              <a:rPr dirty="0"/>
              <a:t> </a:t>
            </a:r>
            <a:r>
              <a:rPr dirty="0" err="1"/>
              <a:t>이중</a:t>
            </a:r>
            <a:r>
              <a:rPr dirty="0"/>
              <a:t> </a:t>
            </a:r>
            <a:r>
              <a:rPr dirty="0" err="1"/>
              <a:t>엔진은</a:t>
            </a:r>
            <a:br>
              <a:rPr dirty="0"/>
            </a:br>
            <a:r>
              <a:rPr dirty="0"/>
              <a:t>   </a:t>
            </a:r>
            <a:r>
              <a:rPr lang="ko-KR" altLang="en-US" dirty="0"/>
              <a:t> </a:t>
            </a: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도구에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고유한</a:t>
            </a:r>
            <a:r>
              <a:rPr dirty="0"/>
              <a:t> </a:t>
            </a:r>
            <a:r>
              <a:rPr dirty="0" err="1"/>
              <a:t>접근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828800" y="6858000"/>
            <a:ext cx="14630400" cy="1828800"/>
          </a:xfrm>
          <a:prstGeom prst="rect">
            <a:avLst/>
          </a:prstGeom>
          <a:noFill/>
          <a:ln w="10160">
            <a:solidFill>
              <a:srgbClr val="4B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0" y="7132320"/>
            <a:ext cx="1371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4B6587"/>
                </a:solidFill>
                <a:latin typeface="Open Sans"/>
              </a:defRPr>
            </a:pPr>
            <a:r>
              <a:rPr dirty="0"/>
              <a:t>3. </a:t>
            </a:r>
            <a:r>
              <a:rPr dirty="0" err="1"/>
              <a:t>실측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→ AI </a:t>
            </a:r>
            <a:r>
              <a:rPr dirty="0" err="1"/>
              <a:t>보조</a:t>
            </a:r>
            <a:r>
              <a:rPr dirty="0"/>
              <a:t> → GPU </a:t>
            </a:r>
            <a:r>
              <a:rPr dirty="0" err="1"/>
              <a:t>가속으로</a:t>
            </a:r>
            <a:r>
              <a:rPr dirty="0"/>
              <a:t> </a:t>
            </a:r>
            <a:r>
              <a:rPr dirty="0" err="1"/>
              <a:t>발전하여</a:t>
            </a:r>
            <a:br>
              <a:rPr dirty="0"/>
            </a:br>
            <a:r>
              <a:rPr dirty="0"/>
              <a:t>    </a:t>
            </a:r>
            <a:r>
              <a:rPr dirty="0" err="1"/>
              <a:t>누구나</a:t>
            </a:r>
            <a:r>
              <a:rPr dirty="0"/>
              <a:t> </a:t>
            </a:r>
            <a:r>
              <a:rPr dirty="0" err="1"/>
              <a:t>쓸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도구로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828800" y="9144000"/>
            <a:ext cx="1463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1">
                <a:solidFill>
                  <a:srgbClr val="4B6587"/>
                </a:solidFill>
                <a:latin typeface="Open Sans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1600200"/>
          </a:xfrm>
          <a:prstGeom prst="rect">
            <a:avLst/>
          </a:prstGeom>
          <a:solidFill>
            <a:srgbClr val="4B65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73152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B6587"/>
                </a:solidFill>
                <a:latin typeface="Open Sans"/>
              </a:defRPr>
            </a:pPr>
            <a:r>
              <a:t>참고 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82296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B6587"/>
                </a:solidFill>
                <a:latin typeface="Open Sans"/>
              </a:defRPr>
            </a:pPr>
            <a:r>
              <a:t>[학술 논문]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[1] Gorce et al. — "FDTD based efficient 2D simulations of Indoor propagation"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[2] Hybrid RT+FDTD — IEEE 855493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[3] Full 3D-FDTD at 2.45GHz — ResearchGate 311217532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[4] Fuschini et al. (2015) — "Ray tracing propagation modeling" (Radio Science)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[5] RT vs FDTD 비교 — IEEE 683705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[6] ML-based Path Loss Modeling — arXiv 2405.10006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4B6587"/>
                </a:solidFill>
                <a:latin typeface="Open Sans"/>
              </a:defRPr>
            </a:pPr>
            <a:endParaRPr/>
          </a:p>
          <a:p>
            <a:pPr algn="l">
              <a:spcBef>
                <a:spcPts val="600"/>
              </a:spcBef>
              <a:spcAft>
                <a:spcPts val="200"/>
              </a:spcAft>
              <a:defRPr sz="2600" b="1">
                <a:solidFill>
                  <a:srgbClr val="4B6587"/>
                </a:solidFill>
                <a:latin typeface="Open Sans"/>
              </a:defRPr>
            </a:pPr>
            <a:r>
              <a:t>[ITU-R 표준]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P.2040-3 (2023): 건축 재료의 전파 영향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P.1238-9 (2017): 실내 전파 예측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P.526: Knife-Edge 회절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0"/>
            <a:ext cx="731520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B6587"/>
                </a:solidFill>
                <a:latin typeface="Open Sans"/>
              </a:defRPr>
            </a:pPr>
            <a:r>
              <a:t>[도구 (공식 출처)]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• Ekahau AI Pro — ekahau.com, $7,990+/년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• NetSpot Pro — netspotapp.com, $149~499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• Wireless InSite — remcom.com, 3D RT+FDTD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• WiFi Solver — wifi-solver.com, 2D FDTD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2200" b="0">
                <a:solidFill>
                  <a:srgbClr val="4B6587"/>
                </a:solidFill>
                <a:latin typeface="Open Sans"/>
              </a:defRPr>
            </a:pPr>
            <a:r>
              <a:t>• MEEP — meep.readthedocs.io, GPL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743200"/>
            <a:ext cx="1463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100" b="1">
                <a:solidFill>
                  <a:srgbClr val="4B6587"/>
                </a:solidFill>
                <a:latin typeface="Open Sans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463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500" b="0">
                <a:solidFill>
                  <a:srgbClr val="4B6587"/>
                </a:solidFill>
                <a:latin typeface="Open Sans"/>
              </a:defRPr>
            </a:pPr>
            <a:r>
              <a:t>질문 있으시면 말씀해 주세요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B6587"/>
                </a:solidFill>
                <a:latin typeface="Open Sans"/>
              </a:defRPr>
            </a:pPr>
            <a:r>
              <a:t>Q: FDTD 계산 시간은?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t>도면 크기/해상도에 따라 수초~수분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766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B6587"/>
                </a:solidFill>
                <a:latin typeface="Open Sans"/>
              </a:defRPr>
            </a:pPr>
            <a:r>
              <a:t>Q: 실측과 비교했나요?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766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t>향후 과제, 현재는 FDTD 물리 모델 + ITU-R 표준 재질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7589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B6587"/>
                </a:solidFill>
                <a:latin typeface="Open Sans"/>
              </a:defRPr>
            </a:pPr>
            <a:r>
              <a:t>Q: 상용 도구와 차이는?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7589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t>FDTD 원리는 동일, 차별점은 하이브리드 접근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8412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B6587"/>
                </a:solidFill>
                <a:latin typeface="Open Sans"/>
              </a:defRPr>
            </a:pPr>
            <a:r>
              <a:t>Q: 왜 직접 만드나요?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8412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B6587"/>
                </a:solidFill>
                <a:latin typeface="Open Sans"/>
              </a:defRPr>
            </a:pPr>
            <a:r>
              <a:t>빠른 모델+정밀 모델을 무료로 동시 제공하는 도구가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999</Words>
  <Application>Microsoft Macintosh PowerPoint</Application>
  <PresentationFormat>사용자 지정</PresentationFormat>
  <Paragraphs>207</Paragraphs>
  <Slides>12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윤준영</cp:lastModifiedBy>
  <cp:revision>3</cp:revision>
  <dcterms:created xsi:type="dcterms:W3CDTF">2013-01-27T09:14:16Z</dcterms:created>
  <dcterms:modified xsi:type="dcterms:W3CDTF">2026-03-17T01:52:45Z</dcterms:modified>
  <cp:category/>
</cp:coreProperties>
</file>